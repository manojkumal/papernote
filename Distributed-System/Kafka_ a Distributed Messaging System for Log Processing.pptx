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embeddedFontLst>
    <p:embeddedFont>
      <p:font typeface="Lora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Lora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Lora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Lora-italic.fntdata"/><Relationship Id="rId14" Type="http://schemas.openxmlformats.org/officeDocument/2006/relationships/slide" Target="slides/slide9.xml"/><Relationship Id="rId58" Type="http://schemas.openxmlformats.org/officeDocument/2006/relationships/font" Target="fonts/Lor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cc71a74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cc71a74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e2f8c01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ee2f8c01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ee2f8c01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ee2f8c01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e2f8c01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e2f8c01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cc71a74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7cc71a74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ee2f8c01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ee2f8c01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7cc71a74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7cc71a74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messaging systems:</a:t>
            </a:r>
            <a:r>
              <a:rPr b="1" lang="en"/>
              <a:t> Often too complex with unnecessary transactional features and acknowledgments.</a:t>
            </a:r>
            <a:r>
              <a:rPr lang="en"/>
              <a:t> Low throughput: Cannot handle the high volume of log data efficiently. Poor scalability: Difficult to distribute across many machines or consumers because there is no easy way to partition and store messages on multiple machines. Log aggregators: Mostly designed for offline processing, not real-time applications. Push-based model: Can overwhelm consumers</a:t>
            </a:r>
            <a:r>
              <a:rPr b="1" lang="en"/>
              <a:t> if data is sent faster than they can handle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e2f8c01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ee2f8c01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messaging systems:</a:t>
            </a:r>
            <a:r>
              <a:rPr b="1" lang="en"/>
              <a:t> Often too complex with unnecessary transactional features and acknowledgments.</a:t>
            </a:r>
            <a:r>
              <a:rPr lang="en"/>
              <a:t> Low throughput: Cannot handle the high volume of log data efficiently. Poor scalability: Difficult to distribute across many machines or consumers because there is no easy way to partition and store messages on multiple machines. Log aggregators: Mostly designed for offline processing, not real-time applications. Push-based model: Can overwhelm consumers</a:t>
            </a:r>
            <a:r>
              <a:rPr b="1" lang="en"/>
              <a:t> if data is sent faster than they can handle</a:t>
            </a:r>
            <a:endParaRPr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ee2f8c01e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ee2f8c01e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messaging systems:</a:t>
            </a:r>
            <a:r>
              <a:rPr b="1" lang="en"/>
              <a:t> Often too complex with unnecessary transactional features and acknowledgments.</a:t>
            </a:r>
            <a:r>
              <a:rPr lang="en"/>
              <a:t> Low throughput: Cannot handle the high volume of log data efficiently. Poor scalability: Difficult to distribute across many machines or consumers because there is no easy way to partition and store messages on multiple machines. Log aggregators: Mostly designed for offline processing, not real-time applications. Push-based model: Can overwhelm consumers</a:t>
            </a:r>
            <a:r>
              <a:rPr b="1" lang="en"/>
              <a:t> if data is sent faster than they can handle</a:t>
            </a:r>
            <a:endParaRPr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e2f8c01e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ee2f8c01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messaging systems:</a:t>
            </a:r>
            <a:r>
              <a:rPr b="1" lang="en"/>
              <a:t> Often too complex with unnecessary transactional features and acknowledgments.</a:t>
            </a:r>
            <a:r>
              <a:rPr lang="en"/>
              <a:t> Low throughput: Cannot handle the high volume of log data efficiently. Poor scalability: Difficult to distribute across many machines or consumers because there is no easy way to partition and store messages on multiple machines. Log aggregators: Mostly designed for offline processing, not real-time applications. Push-based model: Can overwhelm consumers</a:t>
            </a:r>
            <a:r>
              <a:rPr b="1" lang="en"/>
              <a:t> if data is sent faster than they can handle</a:t>
            </a:r>
            <a:endParaRPr b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e2f8c01e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ee2f8c01e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messaging systems:</a:t>
            </a:r>
            <a:r>
              <a:rPr b="1" lang="en"/>
              <a:t> Often too complex with unnecessary transactional features and acknowledgments.</a:t>
            </a:r>
            <a:r>
              <a:rPr lang="en"/>
              <a:t> Low throughput: Cannot handle the high volume of log data efficiently. Poor scalability: Difficult to distribute across many machines or consumers because there is no easy way to partition and store messages on multiple machines. Log aggregators: Mostly designed for offline processing, not real-time applications. Push-based model: Can overwhelm consumers</a:t>
            </a:r>
            <a:r>
              <a:rPr b="1" lang="en"/>
              <a:t> if data is sent faster than they can handle</a:t>
            </a:r>
            <a:endParaRPr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7cc71a74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7cc71a74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7cc71a74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7cc71a74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e2f8c01e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ee2f8c01e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e2f8c01e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ee2f8c01e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ee2f8c01e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ee2f8c01e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“Messaging system semantics”</a:t>
            </a:r>
            <a:r>
              <a:rPr lang="en">
                <a:solidFill>
                  <a:schemeClr val="dk1"/>
                </a:solidFill>
              </a:rPr>
              <a:t> means the </a:t>
            </a:r>
            <a:r>
              <a:rPr b="1" lang="en">
                <a:solidFill>
                  <a:schemeClr val="dk1"/>
                </a:solidFill>
              </a:rPr>
              <a:t>rules and guarantees</a:t>
            </a:r>
            <a:r>
              <a:rPr lang="en">
                <a:solidFill>
                  <a:schemeClr val="dk1"/>
                </a:solidFill>
              </a:rPr>
              <a:t> a messaging system provides about </a:t>
            </a:r>
            <a:r>
              <a:rPr b="1" lang="en">
                <a:solidFill>
                  <a:schemeClr val="dk1"/>
                </a:solidFill>
              </a:rPr>
              <a:t>how messages are sent, stored, delivered, and processed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many times a message is delivered: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At-most-once</a:t>
            </a:r>
            <a:r>
              <a:rPr lang="en">
                <a:solidFill>
                  <a:schemeClr val="dk1"/>
                </a:solidFill>
              </a:rPr>
              <a:t>: message may be lost, never duplicated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At-least-once</a:t>
            </a:r>
            <a:r>
              <a:rPr lang="en">
                <a:solidFill>
                  <a:schemeClr val="dk1"/>
                </a:solidFill>
              </a:rPr>
              <a:t>: message is delivered, but may be duplicated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Exactly-once</a:t>
            </a:r>
            <a:r>
              <a:rPr lang="en">
                <a:solidFill>
                  <a:schemeClr val="dk1"/>
                </a:solidFill>
              </a:rPr>
              <a:t>: message is delivered once and only once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7cc71a74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7cc71a74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ee2f8c01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ee2f8c0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ee2f8c01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ee2f8c01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ee2f8c0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ee2f8c0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ee2f8c01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ee2f8c01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7cc71a74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7cc71a74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7cc71a74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7cc71a74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7cc71a74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7cc71a74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7cc71a74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7cc71a74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7cc71a74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7cc71a74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7cc71a74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7cc71a74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7cc71a74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7cc71a74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7cc71a74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7cc71a74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7cc71a74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7cc71a74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7cc71a74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7cc71a74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7cc71a74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7cc71a74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94ac58da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94ac58da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7cc71a745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7cc71a74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94ac58da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94ac58da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94ac58da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94ac58da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94ac58da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94ac58da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94ac58da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94ac58da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94ac58da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94ac58da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94ac58da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94ac58da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94ac58da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94ac58da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94ac58d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94ac58d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7cc71a745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7cc71a745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ee2f8c01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ee2f8c01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ee2f8c01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ee2f8c01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ee2f8c01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ee2f8c01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7cc71a745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c7cc71a745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7cc71a745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7cc71a745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7cc71a74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7cc71a74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7cc71a74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c7cc71a74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pages.cs.wisc.edu/~akella/CS744/F17/838-CloudPapers/Kafk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35975"/>
            <a:ext cx="8520600" cy="2052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Kafka: a Distributed Messaging System for Log Processing</a:t>
            </a:r>
            <a:endParaRPr sz="4500"/>
          </a:p>
        </p:txBody>
      </p:sp>
      <p:sp>
        <p:nvSpPr>
          <p:cNvPr id="55" name="Google Shape;55;p13"/>
          <p:cNvSpPr txBox="1"/>
          <p:nvPr/>
        </p:nvSpPr>
        <p:spPr>
          <a:xfrm>
            <a:off x="1154425" y="2777475"/>
            <a:ext cx="597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Jay Kreps, Neha Narkhede, Jun Rao, </a:t>
            </a:r>
            <a:r>
              <a:rPr lang="en" sz="1600"/>
              <a:t>LinkedIn </a:t>
            </a:r>
            <a:r>
              <a:rPr lang="en" sz="1600"/>
              <a:t>Corp.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What is Log?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Large internet companies generate a large amount of log data every day, such as: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User events: login, access, click, share, comment, search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What is Log?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Large internet companies generate a large amount of log data every day, such as: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User events: login, access, click, share, comment, search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Performance metrics: latency, errors, QPS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What is Log?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Large internet companies generate a large amount of log data every day, such as: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User events: login, access, click, share, comment, search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Performance metrics: latency, errors, QPS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Machine specifications: CPU, Memory, Network, Disk Utility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Why Log Processing Matters?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This log data is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often used for offline analysis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help companies understand users and products, and to help developers understand systems and services.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Logs are no longer just for offline analytics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Why Log Processing Matters?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This log data is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often used for offline analysis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help companies understand users and products, and to help developers understand systems and services.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Logs are no longer just for offline analytics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</a:rPr>
              <a:t>Recent internet applications use activity data directly in </a:t>
            </a:r>
            <a:r>
              <a:rPr b="1" lang="en" sz="1600">
                <a:solidFill>
                  <a:schemeClr val="dk1"/>
                </a:solidFill>
              </a:rPr>
              <a:t>production systems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Why Log Processing Matters?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This log data is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often used for offline analysis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help companies understand users and products, and to help developers understand systems and services.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Logs are no longer just for offline analytics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</a:rPr>
              <a:t>Recent internet applications use activity data directly in </a:t>
            </a:r>
            <a:r>
              <a:rPr b="1" lang="en" sz="1600">
                <a:solidFill>
                  <a:schemeClr val="dk1"/>
                </a:solidFill>
              </a:rPr>
              <a:t>production systems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</a:rPr>
              <a:t>This data enables key features such as search relevance, </a:t>
            </a:r>
            <a:r>
              <a:rPr b="1" lang="en" sz="1600">
                <a:solidFill>
                  <a:schemeClr val="dk1"/>
                </a:solidFill>
              </a:rPr>
              <a:t>recommendations</a:t>
            </a:r>
            <a:r>
              <a:rPr lang="en" sz="1600">
                <a:solidFill>
                  <a:schemeClr val="dk1"/>
                </a:solidFill>
              </a:rPr>
              <a:t>, advertising, security and fraud detection, and social news feeds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Challenges with Traditional Systems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Overly complex</a:t>
            </a:r>
            <a:r>
              <a:rPr lang="en" sz="1600">
                <a:solidFill>
                  <a:schemeClr val="dk1"/>
                </a:solidFill>
              </a:rPr>
              <a:t>: Heavy transactions and acknowledgments add unnecessary overhead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Challenges with Traditional Systems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Overly complex</a:t>
            </a:r>
            <a:r>
              <a:rPr lang="en" sz="1600">
                <a:solidFill>
                  <a:schemeClr val="dk1"/>
                </a:solidFill>
              </a:rPr>
              <a:t>: Heavy transactions and acknowledgments add unnecessary overhead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Low throughput</a:t>
            </a:r>
            <a:r>
              <a:rPr lang="en" sz="1600">
                <a:solidFill>
                  <a:schemeClr val="dk1"/>
                </a:solidFill>
              </a:rPr>
              <a:t>: Cannot handle the </a:t>
            </a:r>
            <a:r>
              <a:rPr b="1" lang="en" sz="1600">
                <a:solidFill>
                  <a:schemeClr val="dk1"/>
                </a:solidFill>
              </a:rPr>
              <a:t>high volume of log</a:t>
            </a:r>
            <a:r>
              <a:rPr lang="en" sz="1600">
                <a:solidFill>
                  <a:schemeClr val="dk1"/>
                </a:solidFill>
              </a:rPr>
              <a:t> data efficiently.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Challenges with Traditional Systems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Overly complex</a:t>
            </a:r>
            <a:r>
              <a:rPr lang="en" sz="1600">
                <a:solidFill>
                  <a:schemeClr val="dk1"/>
                </a:solidFill>
              </a:rPr>
              <a:t>: Heavy transactions and acknowledgments add unnecessary overhead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Low throughput</a:t>
            </a:r>
            <a:r>
              <a:rPr lang="en" sz="1600">
                <a:solidFill>
                  <a:schemeClr val="dk1"/>
                </a:solidFill>
              </a:rPr>
              <a:t>: Cannot handle the </a:t>
            </a:r>
            <a:r>
              <a:rPr b="1" lang="en" sz="1600">
                <a:solidFill>
                  <a:schemeClr val="dk1"/>
                </a:solidFill>
              </a:rPr>
              <a:t>high volume of log</a:t>
            </a:r>
            <a:r>
              <a:rPr lang="en" sz="1600">
                <a:solidFill>
                  <a:schemeClr val="dk1"/>
                </a:solidFill>
              </a:rPr>
              <a:t> data efficiently.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Poor scalability</a:t>
            </a:r>
            <a:r>
              <a:rPr lang="en" sz="1600">
                <a:solidFill>
                  <a:schemeClr val="dk1"/>
                </a:solidFill>
              </a:rPr>
              <a:t>: Hard to partition data across machines and consumers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Challenges with Traditional Systems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Overly complex</a:t>
            </a:r>
            <a:r>
              <a:rPr lang="en" sz="1600">
                <a:solidFill>
                  <a:schemeClr val="dk1"/>
                </a:solidFill>
              </a:rPr>
              <a:t>: Heavy transactions and acknowledgments add unnecessary overhead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Low throughput</a:t>
            </a:r>
            <a:r>
              <a:rPr lang="en" sz="1600">
                <a:solidFill>
                  <a:schemeClr val="dk1"/>
                </a:solidFill>
              </a:rPr>
              <a:t>: Cannot handle the </a:t>
            </a:r>
            <a:r>
              <a:rPr b="1" lang="en" sz="1600">
                <a:solidFill>
                  <a:schemeClr val="dk1"/>
                </a:solidFill>
              </a:rPr>
              <a:t>high volume of log</a:t>
            </a:r>
            <a:r>
              <a:rPr lang="en" sz="1600">
                <a:solidFill>
                  <a:schemeClr val="dk1"/>
                </a:solidFill>
              </a:rPr>
              <a:t> data efficiently.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Poor scalability</a:t>
            </a:r>
            <a:r>
              <a:rPr lang="en" sz="1600">
                <a:solidFill>
                  <a:schemeClr val="dk1"/>
                </a:solidFill>
              </a:rPr>
              <a:t>: Hard to partition data across machines and consumers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Not Real Time</a:t>
            </a:r>
            <a:r>
              <a:rPr lang="en" sz="1600">
                <a:solidFill>
                  <a:schemeClr val="dk1"/>
                </a:solidFill>
              </a:rPr>
              <a:t>: Log aggregators are mainly built for offline processing.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Challenges with Traditional Systems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485700" y="1302975"/>
            <a:ext cx="81726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Overly complex</a:t>
            </a:r>
            <a:r>
              <a:rPr lang="en" sz="1600">
                <a:solidFill>
                  <a:schemeClr val="dk1"/>
                </a:solidFill>
              </a:rPr>
              <a:t>: Heavy transactions and acknowledgments add unnecessary overhead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Low throughput</a:t>
            </a:r>
            <a:r>
              <a:rPr lang="en" sz="1600">
                <a:solidFill>
                  <a:schemeClr val="dk1"/>
                </a:solidFill>
              </a:rPr>
              <a:t>: Cannot handle the </a:t>
            </a:r>
            <a:r>
              <a:rPr b="1" lang="en" sz="1600">
                <a:solidFill>
                  <a:schemeClr val="dk1"/>
                </a:solidFill>
              </a:rPr>
              <a:t>high volume of log</a:t>
            </a:r>
            <a:r>
              <a:rPr lang="en" sz="1600">
                <a:solidFill>
                  <a:schemeClr val="dk1"/>
                </a:solidFill>
              </a:rPr>
              <a:t> data efficiently.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Poor scalability</a:t>
            </a:r>
            <a:r>
              <a:rPr lang="en" sz="1600">
                <a:solidFill>
                  <a:schemeClr val="dk1"/>
                </a:solidFill>
              </a:rPr>
              <a:t>: Hard to partition data across machines and consumers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Not Real Time</a:t>
            </a:r>
            <a:r>
              <a:rPr lang="en" sz="1600">
                <a:solidFill>
                  <a:schemeClr val="dk1"/>
                </a:solidFill>
              </a:rPr>
              <a:t>: Log aggregators are mainly built for offline processing.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b="1" lang="en" sz="1600">
                <a:solidFill>
                  <a:schemeClr val="dk1"/>
                </a:solidFill>
              </a:rPr>
              <a:t>Push-based model</a:t>
            </a:r>
            <a:r>
              <a:rPr lang="en" sz="1600">
                <a:solidFill>
                  <a:schemeClr val="dk1"/>
                </a:solidFill>
              </a:rPr>
              <a:t>: Producers can overwhelm slow consumers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Distributed messaging system for log processing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38" name="Google Shape;138;p27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Distributed messaging system for log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Designed for: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High throughput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Low latency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Scalability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Distributed messaging system for log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Designed for: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High throughput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Low latency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Scalability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Combines: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Log aggregation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Messaging system semantics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Distributed messaging system for log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Designed for: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High throughput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Low latency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Scalability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Combines: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Log aggregation</a:t>
            </a:r>
            <a:endParaRPr sz="16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</a:rPr>
              <a:t>Messaging system semantics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in production at LinkedIn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Core Concepts in 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Topic: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type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of log (message) stream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Core Concepts in 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62" name="Google Shape;162;p31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Topic: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type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of log (message) stream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Producer: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Publish messages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topic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Core Concepts in 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Topic: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type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of log (message) stream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Producer: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Publish messages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topic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Broker: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broker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is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single instance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in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cluster store messages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Core Concepts in 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Topic: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type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of log (message) stream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Producer: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Publish messages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topic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Broker: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broker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is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single instance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in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cluster store messages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Consumer: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Subscribe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s to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topics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and reads messages from brokers.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Core Concepts in Kafka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80" name="Google Shape;180;p34"/>
          <p:cNvSpPr txBox="1"/>
          <p:nvPr/>
        </p:nvSpPr>
        <p:spPr>
          <a:xfrm>
            <a:off x="485700" y="1302975"/>
            <a:ext cx="8172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Topic: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type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of log (message) stream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Producer: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Publish messages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topic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Broker: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broker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is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single instance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in 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cluster store messages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Consumer: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Subscribe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s to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topics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and reads messages from brokers.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Consumer Group: A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consumer group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consists of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one or more consumers.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/>
        </p:nvSpPr>
        <p:spPr>
          <a:xfrm>
            <a:off x="485700" y="308625"/>
            <a:ext cx="83610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Code for Sample Producer and Consumer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186" name="Google Shape;186;p35" title="Screenshot 2026-02-12 at 21.48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75" y="1234425"/>
            <a:ext cx="8306255" cy="36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/>
        </p:nvSpPr>
        <p:spPr>
          <a:xfrm>
            <a:off x="485700" y="308625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 Architecture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92" name="Google Shape;192;p36"/>
          <p:cNvSpPr txBox="1"/>
          <p:nvPr/>
        </p:nvSpPr>
        <p:spPr>
          <a:xfrm>
            <a:off x="485700" y="1108650"/>
            <a:ext cx="47607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Producers send messages to a </a:t>
            </a:r>
            <a:r>
              <a:rPr b="1" lang="en">
                <a:solidFill>
                  <a:schemeClr val="dk1"/>
                </a:solidFill>
              </a:rPr>
              <a:t>specific topic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split</a:t>
            </a:r>
            <a:r>
              <a:rPr lang="en">
                <a:solidFill>
                  <a:schemeClr val="dk1"/>
                </a:solidFill>
              </a:rPr>
              <a:t> into </a:t>
            </a:r>
            <a:r>
              <a:rPr b="1" lang="en">
                <a:solidFill>
                  <a:schemeClr val="dk1"/>
                </a:solidFill>
              </a:rPr>
              <a:t>partitions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</a:rPr>
              <a:t>stored across multiple brokers.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Consumers </a:t>
            </a:r>
            <a:r>
              <a:rPr b="1" lang="en">
                <a:solidFill>
                  <a:schemeClr val="dk1"/>
                </a:solidFill>
              </a:rPr>
              <a:t>read</a:t>
            </a:r>
            <a:r>
              <a:rPr lang="en">
                <a:solidFill>
                  <a:schemeClr val="dk1"/>
                </a:solidFill>
              </a:rPr>
              <a:t> messages by subscribing to </a:t>
            </a:r>
            <a:r>
              <a:rPr b="1" lang="en">
                <a:solidFill>
                  <a:schemeClr val="dk1"/>
                </a:solidFill>
              </a:rPr>
              <a:t>topics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wait</a:t>
            </a:r>
            <a:r>
              <a:rPr lang="en">
                <a:solidFill>
                  <a:schemeClr val="dk1"/>
                </a:solidFill>
              </a:rPr>
              <a:t> if no new messages arrive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One </a:t>
            </a:r>
            <a:r>
              <a:rPr b="1" lang="en">
                <a:solidFill>
                  <a:schemeClr val="dk1"/>
                </a:solidFill>
              </a:rPr>
              <a:t>partition</a:t>
            </a:r>
            <a:r>
              <a:rPr lang="en">
                <a:solidFill>
                  <a:schemeClr val="dk1"/>
                </a:solidFill>
              </a:rPr>
              <a:t> is read by </a:t>
            </a:r>
            <a:r>
              <a:rPr b="1" lang="en">
                <a:solidFill>
                  <a:schemeClr val="dk1"/>
                </a:solidFill>
              </a:rPr>
              <a:t>only one consumer</a:t>
            </a:r>
            <a:r>
              <a:rPr lang="en">
                <a:solidFill>
                  <a:schemeClr val="dk1"/>
                </a:solidFill>
              </a:rPr>
              <a:t> in a group and </a:t>
            </a:r>
            <a:r>
              <a:rPr b="1" lang="en">
                <a:solidFill>
                  <a:schemeClr val="dk1"/>
                </a:solidFill>
              </a:rPr>
              <a:t>each consumer</a:t>
            </a:r>
            <a:r>
              <a:rPr lang="en">
                <a:solidFill>
                  <a:schemeClr val="dk1"/>
                </a:solidFill>
              </a:rPr>
              <a:t> group gets its </a:t>
            </a:r>
            <a:r>
              <a:rPr b="1" lang="en">
                <a:solidFill>
                  <a:schemeClr val="dk1"/>
                </a:solidFill>
              </a:rPr>
              <a:t>own copy</a:t>
            </a:r>
            <a:r>
              <a:rPr lang="en">
                <a:solidFill>
                  <a:schemeClr val="dk1"/>
                </a:solidFill>
              </a:rPr>
              <a:t> of messages.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Producers can send messages even if </a:t>
            </a:r>
            <a:r>
              <a:rPr b="1" lang="en">
                <a:solidFill>
                  <a:schemeClr val="dk1"/>
                </a:solidFill>
              </a:rPr>
              <a:t>no consumers are subscribed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Consumers can read messages even if </a:t>
            </a:r>
            <a:r>
              <a:rPr b="1" lang="en">
                <a:solidFill>
                  <a:schemeClr val="dk1"/>
                </a:solidFill>
              </a:rPr>
              <a:t>no new messages are being published</a:t>
            </a:r>
            <a:r>
              <a:rPr lang="en">
                <a:solidFill>
                  <a:schemeClr val="dk1"/>
                </a:solidFill>
              </a:rPr>
              <a:t> (they just wait).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Producers and consumers are </a:t>
            </a:r>
            <a:r>
              <a:rPr b="1" lang="en">
                <a:solidFill>
                  <a:schemeClr val="dk1"/>
                </a:solidFill>
              </a:rPr>
              <a:t>independent</a:t>
            </a:r>
            <a:r>
              <a:rPr lang="en">
                <a:solidFill>
                  <a:schemeClr val="dk1"/>
                </a:solidFill>
              </a:rPr>
              <a:t> of each other.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3" name="Google Shape;193;p36" title="Screenshot 2026-02-12 at 22.03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800" y="1386825"/>
            <a:ext cx="3592800" cy="3225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85700" y="227300"/>
            <a:ext cx="8172600" cy="92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 Design Philosophy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199" name="Google Shape;199;p37" title="Screenshot 2026-02-16 at 11.00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8" y="1102275"/>
            <a:ext cx="6947517" cy="360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Simple Storage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05" name="Google Shape;205;p38"/>
          <p:cNvSpPr txBox="1"/>
          <p:nvPr/>
        </p:nvSpPr>
        <p:spPr>
          <a:xfrm>
            <a:off x="696325" y="1012000"/>
            <a:ext cx="770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Kafka's storage layout is designed to be very simple: each partition is a logical log file, as shown in the following figure:</a:t>
            </a:r>
            <a:endParaRPr/>
          </a:p>
        </p:txBody>
      </p:sp>
      <p:pic>
        <p:nvPicPr>
          <p:cNvPr id="206" name="Google Shape;206;p38"/>
          <p:cNvPicPr preferRelativeResize="0"/>
          <p:nvPr/>
        </p:nvPicPr>
        <p:blipFill rotWithShape="1">
          <a:blip r:embed="rId3">
            <a:alphaModFix/>
          </a:blip>
          <a:srcRect b="0" l="6893" r="6608" t="0"/>
          <a:stretch/>
        </p:blipFill>
        <p:spPr>
          <a:xfrm>
            <a:off x="1206950" y="1519700"/>
            <a:ext cx="4614300" cy="32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8"/>
          <p:cNvSpPr txBox="1"/>
          <p:nvPr/>
        </p:nvSpPr>
        <p:spPr>
          <a:xfrm>
            <a:off x="5904800" y="1810450"/>
            <a:ext cx="2437800" cy="13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producer continuously appends messages to the end of the partition, while different consumers can start consuming data from any position in the log file.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Simple Storage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696325" y="1012000"/>
            <a:ext cx="770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Each logical log file physically consists of a set of segments files of roughly the same size (e.g., 1GB), as shown in the example below: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4" name="Google Shape;214;p39" title="Screenshot 2026-02-12 at 23.04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350" y="1644200"/>
            <a:ext cx="6436114" cy="32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/>
          <p:nvPr/>
        </p:nvSpPr>
        <p:spPr>
          <a:xfrm>
            <a:off x="485700" y="308625"/>
            <a:ext cx="8172600" cy="786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Simple Storage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696325" y="1012000"/>
            <a:ext cx="770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Each segment file is named with the offset of the first message in 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1" name="Google Shape;221;p40" title="Screenshot 2026-02-12 at 23.19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050" y="1381300"/>
            <a:ext cx="6064169" cy="3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Efficient Transfer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27" name="Google Shape;227;p41"/>
          <p:cNvSpPr txBox="1"/>
          <p:nvPr/>
        </p:nvSpPr>
        <p:spPr>
          <a:xfrm>
            <a:off x="900575" y="1151250"/>
            <a:ext cx="7520400" cy="3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Batch Processing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Producer and Consumer uses batch processing to </a:t>
            </a:r>
            <a:r>
              <a:rPr b="1" lang="en">
                <a:solidFill>
                  <a:schemeClr val="dk1"/>
                </a:solidFill>
              </a:rPr>
              <a:t>improves speed and efficiency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Compression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</a:t>
            </a: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ucers  </a:t>
            </a:r>
            <a:r>
              <a:rPr b="1" lang="en">
                <a:solidFill>
                  <a:schemeClr val="dk1"/>
                </a:solidFill>
              </a:rPr>
              <a:t>compress messages</a:t>
            </a:r>
            <a:r>
              <a:rPr lang="en">
                <a:solidFill>
                  <a:schemeClr val="dk1"/>
                </a:solidFill>
              </a:rPr>
              <a:t> before sending and </a:t>
            </a:r>
            <a:r>
              <a:rPr lang="en">
                <a:solidFill>
                  <a:schemeClr val="dk1"/>
                </a:solidFill>
              </a:rPr>
              <a:t>consumers </a:t>
            </a:r>
            <a:r>
              <a:rPr b="1" lang="en">
                <a:solidFill>
                  <a:schemeClr val="dk1"/>
                </a:solidFill>
              </a:rPr>
              <a:t>decompress after receiving</a:t>
            </a:r>
            <a:r>
              <a:rPr lang="en">
                <a:solidFill>
                  <a:schemeClr val="dk1"/>
                </a:solidFill>
              </a:rPr>
              <a:t>.Saves </a:t>
            </a:r>
            <a:r>
              <a:rPr b="1" lang="en">
                <a:solidFill>
                  <a:schemeClr val="dk1"/>
                </a:solidFill>
              </a:rPr>
              <a:t>network bandwidth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disk space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28" name="Google Shape;228;p41" title="Screenshot 2026-02-18 at 22.30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450" y="3082700"/>
            <a:ext cx="6937651" cy="13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Efficient Transfer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34" name="Google Shape;234;p42"/>
          <p:cNvSpPr txBox="1"/>
          <p:nvPr/>
        </p:nvSpPr>
        <p:spPr>
          <a:xfrm>
            <a:off x="900575" y="1151250"/>
            <a:ext cx="7520400" cy="3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 Explicit Memory Cache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does </a:t>
            </a:r>
            <a:r>
              <a:rPr b="1" lang="en">
                <a:solidFill>
                  <a:schemeClr val="dk1"/>
                </a:solidFill>
              </a:rPr>
              <a:t>not cache messages in memory</a:t>
            </a:r>
            <a:r>
              <a:rPr lang="en">
                <a:solidFill>
                  <a:schemeClr val="dk1"/>
                </a:solidFill>
              </a:rPr>
              <a:t> itself.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It relies on the operating system’s file </a:t>
            </a:r>
            <a:r>
              <a:rPr b="1" lang="en">
                <a:solidFill>
                  <a:schemeClr val="dk1"/>
                </a:solidFill>
              </a:rPr>
              <a:t>system page cache</a:t>
            </a:r>
            <a:r>
              <a:rPr lang="en">
                <a:solidFill>
                  <a:schemeClr val="dk1"/>
                </a:solidFill>
              </a:rPr>
              <a:t> instead.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Advantages: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This approach </a:t>
            </a:r>
            <a:r>
              <a:rPr b="1" lang="en">
                <a:solidFill>
                  <a:schemeClr val="dk1"/>
                </a:solidFill>
              </a:rPr>
              <a:t>avoids double buffering</a:t>
            </a:r>
            <a:r>
              <a:rPr lang="en">
                <a:solidFill>
                  <a:schemeClr val="dk1"/>
                </a:solidFill>
              </a:rPr>
              <a:t> of messages.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There is </a:t>
            </a:r>
            <a:r>
              <a:rPr b="1" lang="en">
                <a:solidFill>
                  <a:schemeClr val="dk1"/>
                </a:solidFill>
              </a:rPr>
              <a:t>no need to “preheat</a:t>
            </a:r>
            <a:r>
              <a:rPr lang="en">
                <a:solidFill>
                  <a:schemeClr val="dk1"/>
                </a:solidFill>
              </a:rPr>
              <a:t>” the cache after a broker restarts.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Memory garbage collection overhead </a:t>
            </a:r>
            <a:r>
              <a:rPr lang="en">
                <a:solidFill>
                  <a:schemeClr val="dk1"/>
                </a:solidFill>
              </a:rPr>
              <a:t>is reduced.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Temporal Locality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Consumers usually read messages shortly after they are produced.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This temporal access pattern matches the </a:t>
            </a:r>
            <a:r>
              <a:rPr b="1" lang="en">
                <a:solidFill>
                  <a:schemeClr val="dk1"/>
                </a:solidFill>
              </a:rPr>
              <a:t>OS cache policy</a:t>
            </a:r>
            <a:r>
              <a:rPr lang="en">
                <a:solidFill>
                  <a:schemeClr val="dk1"/>
                </a:solidFill>
              </a:rPr>
              <a:t>, making reads faster.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Efficient Transfer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900575" y="1151250"/>
            <a:ext cx="7520400" cy="3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Traditional File-to-Socket Transfer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Normally takes </a:t>
            </a:r>
            <a:r>
              <a:rPr b="1" lang="en">
                <a:solidFill>
                  <a:schemeClr val="dk1"/>
                </a:solidFill>
              </a:rPr>
              <a:t>4 steps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2 system calls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Read data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from the file into the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 OS's page cache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Copy data from the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page cache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to the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application cache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Copy the data from the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application layer cache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to the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kernel buffer.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Write the data in the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 kernel buffer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to the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client socket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Optimization with sendfile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Linux/Unix </a:t>
            </a:r>
            <a:r>
              <a:rPr b="1" lang="en">
                <a:solidFill>
                  <a:schemeClr val="dk1"/>
                </a:solidFill>
              </a:rPr>
              <a:t>sendfile</a:t>
            </a:r>
            <a:r>
              <a:rPr lang="en">
                <a:solidFill>
                  <a:schemeClr val="dk1"/>
                </a:solidFill>
              </a:rPr>
              <a:t> can </a:t>
            </a:r>
            <a:r>
              <a:rPr b="1" lang="en">
                <a:solidFill>
                  <a:schemeClr val="dk1"/>
                </a:solidFill>
              </a:rPr>
              <a:t>skip steps 2 &amp; 3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uses </a:t>
            </a:r>
            <a:r>
              <a:rPr b="1" lang="en">
                <a:solidFill>
                  <a:schemeClr val="dk1"/>
                </a:solidFill>
              </a:rPr>
              <a:t>sendfile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b="1" lang="en">
                <a:solidFill>
                  <a:schemeClr val="dk1"/>
                </a:solidFill>
              </a:rPr>
              <a:t>transfer directly from disk to socket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Saves </a:t>
            </a:r>
            <a:r>
              <a:rPr b="1" lang="en">
                <a:solidFill>
                  <a:schemeClr val="dk1"/>
                </a:solidFill>
              </a:rPr>
              <a:t>two memory copies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one system call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Makes </a:t>
            </a:r>
            <a:r>
              <a:rPr b="1" lang="en">
                <a:solidFill>
                  <a:schemeClr val="dk1"/>
                </a:solidFill>
              </a:rPr>
              <a:t>message delivery faster and more efficient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Stateless Broker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46" name="Google Shape;246;p44"/>
          <p:cNvSpPr txBox="1"/>
          <p:nvPr/>
        </p:nvSpPr>
        <p:spPr>
          <a:xfrm>
            <a:off x="900575" y="1151250"/>
            <a:ext cx="7520400" cy="3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Kafka brokers do not track consumer offsets, making the brokers stateless.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This stateless design reduces broker complexity and operational cost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Kafka cleans up messages using a time-based retention policy, typically keeping only the last</a:t>
            </a:r>
            <a:r>
              <a:rPr b="1" lang="en" sz="1600">
                <a:solidFill>
                  <a:schemeClr val="dk1"/>
                </a:solidFill>
              </a:rPr>
              <a:t> 7 days of data.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If consumers cannot consume the data in time, they simply have to accept the loss of data.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Because consumers control their offsets, they can re-consume messages when needed.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Distributed Coordination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52" name="Google Shape;252;p45"/>
          <p:cNvSpPr txBox="1"/>
          <p:nvPr/>
        </p:nvSpPr>
        <p:spPr>
          <a:xfrm>
            <a:off x="900575" y="1012125"/>
            <a:ext cx="7520400" cy="3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Decision 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: The smallest unit of parallelism in Kafka is a partition.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8450" lvl="0" marL="45720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Partition-level parallelism:</a:t>
            </a:r>
            <a:r>
              <a:rPr lang="en">
                <a:solidFill>
                  <a:schemeClr val="dk1"/>
                </a:solidFill>
              </a:rPr>
              <a:t> At any time, a single partition can only be consumed by one consumer within a consumer group.</a:t>
            </a:r>
            <a:endParaRPr>
              <a:solidFill>
                <a:schemeClr val="dk1"/>
              </a:solidFill>
            </a:endParaRPr>
          </a:p>
          <a:p>
            <a:pPr indent="-298450" lvl="0" marL="4572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Avoids complexity:</a:t>
            </a:r>
            <a:r>
              <a:rPr lang="en">
                <a:solidFill>
                  <a:schemeClr val="dk1"/>
                </a:solidFill>
              </a:rPr>
              <a:t> Allowing multiple consumers per partition would require locks and tracking each consumer’s consumption, increasing code complexity.</a:t>
            </a:r>
            <a:endParaRPr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53" name="Google Shape;253;p45" title="Screenshot 2026-02-18 at 21.22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500" y="2571750"/>
            <a:ext cx="6009748" cy="243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6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Distributed Coordination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59" name="Google Shape;259;p46"/>
          <p:cNvSpPr txBox="1"/>
          <p:nvPr/>
        </p:nvSpPr>
        <p:spPr>
          <a:xfrm>
            <a:off x="900575" y="1012125"/>
            <a:ext cx="7520400" cy="3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Rebalance coordination only:</a:t>
            </a:r>
            <a:r>
              <a:rPr lang="en">
                <a:solidFill>
                  <a:schemeClr val="dk1"/>
                </a:solidFill>
              </a:rPr>
              <a:t> Consumers only coordinate during rebalancing; normally, each consumer can operate independently.</a:t>
            </a:r>
            <a:endParaRPr>
              <a:solidFill>
                <a:schemeClr val="dk1"/>
              </a:solidFill>
            </a:endParaRPr>
          </a:p>
          <a:p>
            <a:pPr indent="-298450" lvl="0" marL="4572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Even data distribution:</a:t>
            </a:r>
            <a:r>
              <a:rPr lang="en">
                <a:solidFill>
                  <a:schemeClr val="dk1"/>
                </a:solidFill>
              </a:rPr>
              <a:t> Increasing the number of partitions allows data to be distributed more evenly among consumers.</a:t>
            </a:r>
            <a:endParaRPr>
              <a:solidFill>
                <a:schemeClr val="dk1"/>
              </a:solidFill>
            </a:endParaRPr>
          </a:p>
          <a:p>
            <a:pPr indent="-298450" lvl="0" marL="4572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With 3 consumers: </a:t>
            </a:r>
            <a:r>
              <a:rPr b="1" lang="en">
                <a:solidFill>
                  <a:schemeClr val="dk1"/>
                </a:solidFill>
              </a:rPr>
              <a:t>4 partitions → distribution = [2, 1, 1] </a:t>
            </a:r>
            <a:r>
              <a:rPr lang="en">
                <a:solidFill>
                  <a:schemeClr val="dk1"/>
                </a:solidFill>
              </a:rPr>
              <a:t>and </a:t>
            </a:r>
            <a:r>
              <a:rPr b="1" lang="en">
                <a:solidFill>
                  <a:schemeClr val="dk1"/>
                </a:solidFill>
              </a:rPr>
              <a:t>14 partitions → distribution = [5, 4, 4] (more balanced)</a:t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60" name="Google Shape;260;p46" title="Screenshot 2026-02-18 at 21.17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875" y="2683125"/>
            <a:ext cx="5776123" cy="22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6" title="Screenshot 2026-02-18 at 21.17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713" y="2683125"/>
            <a:ext cx="5776123" cy="22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Distributed Coordination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67" name="Google Shape;267;p47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Decision 2: No master node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There is no concept of a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master node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in the brokers, and thus no need to consider the issue of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master failure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.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ZooKeeper's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main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responsibilities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includes.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Detecting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the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increase or decrease of brokers and consumers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, i.e., registration and discovery.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68" name="Google Shape;268;p47" title="Screenshot 2026-02-18 at 21.33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975" y="2504875"/>
            <a:ext cx="5647274" cy="241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Distributed Coordination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74" name="Google Shape;274;p48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Decision 2: No master node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75" name="Google Shape;275;p48" title="Screenshot 2026-02-18 at 21.38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675" y="1630125"/>
            <a:ext cx="6433252" cy="2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8"/>
          <p:cNvSpPr txBox="1"/>
          <p:nvPr/>
        </p:nvSpPr>
        <p:spPr>
          <a:xfrm>
            <a:off x="1366875" y="4566375"/>
            <a:ext cx="66117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</a:t>
            </a:r>
            <a:r>
              <a:rPr lang="en" sz="1800">
                <a:solidFill>
                  <a:srgbClr val="38761D"/>
                </a:solidFill>
              </a:rPr>
              <a:t>anBeElected = LastMessageTime-currentTime &lt; less 10 Sec</a:t>
            </a:r>
            <a:endParaRPr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9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Distributed Coordination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282" name="Google Shape;282;p49" title="Screenshot 2026-02-18 at 21.48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650" y="1113750"/>
            <a:ext cx="4059600" cy="331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 title="Screenshot 2026-02-18 at 21.50.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98650"/>
            <a:ext cx="3902627" cy="276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0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Distributed Coordination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89" name="Google Shape;289;p50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Data rebalancing is triggered when brokers and consumers change.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Maintain consumer relationships, i.e., xx consumer consumes xx partition; record consumption progress, i.e., save offset;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90" name="Google Shape;290;p50" title="Screenshot 2026-02-18 at 21.57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500" y="2030900"/>
            <a:ext cx="6694876" cy="271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1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Delivery Guarantees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96" name="Google Shape;296;p51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ensures that </a:t>
            </a:r>
            <a:r>
              <a:rPr b="1" lang="en">
                <a:solidFill>
                  <a:schemeClr val="dk1"/>
                </a:solidFill>
              </a:rPr>
              <a:t>each message</a:t>
            </a:r>
            <a:r>
              <a:rPr lang="en">
                <a:solidFill>
                  <a:schemeClr val="dk1"/>
                </a:solidFill>
              </a:rPr>
              <a:t> is delivered </a:t>
            </a:r>
            <a:r>
              <a:rPr b="1" lang="en">
                <a:solidFill>
                  <a:schemeClr val="dk1"/>
                </a:solidFill>
              </a:rPr>
              <a:t>at least once</a:t>
            </a:r>
            <a:r>
              <a:rPr lang="en">
                <a:solidFill>
                  <a:schemeClr val="dk1"/>
                </a:solidFill>
              </a:rPr>
              <a:t> to a consumer group, but duplicates may occur in failure scenarios.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a </a:t>
            </a:r>
            <a:r>
              <a:rPr b="1" lang="en">
                <a:solidFill>
                  <a:schemeClr val="dk1"/>
                </a:solidFill>
              </a:rPr>
              <a:t>consumer crashes</a:t>
            </a:r>
            <a:r>
              <a:rPr lang="en">
                <a:solidFill>
                  <a:schemeClr val="dk1"/>
                </a:solidFill>
              </a:rPr>
              <a:t> before committing its offset, </a:t>
            </a:r>
            <a:r>
              <a:rPr b="1" lang="en">
                <a:solidFill>
                  <a:schemeClr val="dk1"/>
                </a:solidFill>
              </a:rPr>
              <a:t>another consumer</a:t>
            </a:r>
            <a:r>
              <a:rPr lang="en">
                <a:solidFill>
                  <a:schemeClr val="dk1"/>
                </a:solidFill>
              </a:rPr>
              <a:t> may reprocess the same messages, leading to </a:t>
            </a:r>
            <a:r>
              <a:rPr b="1" lang="en">
                <a:solidFill>
                  <a:schemeClr val="dk1"/>
                </a:solidFill>
              </a:rPr>
              <a:t>duplicate consumption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97" name="Google Shape;297;p51" title="Screenshot 2026-02-18 at 22.13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100" y="2634175"/>
            <a:ext cx="7113375" cy="186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Delivery Guarantees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03" name="Google Shape;303;p52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ensures that </a:t>
            </a:r>
            <a:r>
              <a:rPr b="1" lang="en">
                <a:solidFill>
                  <a:schemeClr val="dk1"/>
                </a:solidFill>
              </a:rPr>
              <a:t>each message</a:t>
            </a:r>
            <a:r>
              <a:rPr lang="en">
                <a:solidFill>
                  <a:schemeClr val="dk1"/>
                </a:solidFill>
              </a:rPr>
              <a:t> is delivered </a:t>
            </a:r>
            <a:r>
              <a:rPr b="1" lang="en">
                <a:solidFill>
                  <a:schemeClr val="dk1"/>
                </a:solidFill>
              </a:rPr>
              <a:t>at least once</a:t>
            </a:r>
            <a:r>
              <a:rPr lang="en">
                <a:solidFill>
                  <a:schemeClr val="dk1"/>
                </a:solidFill>
              </a:rPr>
              <a:t> to a consumer group, but duplicates may occur in failure scenarios.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a </a:t>
            </a:r>
            <a:r>
              <a:rPr b="1" lang="en">
                <a:solidFill>
                  <a:schemeClr val="dk1"/>
                </a:solidFill>
              </a:rPr>
              <a:t>consumer crashes</a:t>
            </a:r>
            <a:r>
              <a:rPr lang="en">
                <a:solidFill>
                  <a:schemeClr val="dk1"/>
                </a:solidFill>
              </a:rPr>
              <a:t> before committing its offset, </a:t>
            </a:r>
            <a:r>
              <a:rPr b="1" lang="en">
                <a:solidFill>
                  <a:schemeClr val="dk1"/>
                </a:solidFill>
              </a:rPr>
              <a:t>another consumer</a:t>
            </a:r>
            <a:r>
              <a:rPr lang="en">
                <a:solidFill>
                  <a:schemeClr val="dk1"/>
                </a:solidFill>
              </a:rPr>
              <a:t> may reprocess the same messages, leading to </a:t>
            </a:r>
            <a:r>
              <a:rPr b="1" lang="en">
                <a:solidFill>
                  <a:schemeClr val="dk1"/>
                </a:solidFill>
              </a:rPr>
              <a:t>duplicate consumption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04" name="Google Shape;304;p52" title="Screenshot 2026-02-18 at 22.15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000" y="2450250"/>
            <a:ext cx="7043975" cy="15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Delivery Guarantees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10" name="Google Shape;310;p53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ensures that </a:t>
            </a:r>
            <a:r>
              <a:rPr b="1" lang="en">
                <a:solidFill>
                  <a:schemeClr val="dk1"/>
                </a:solidFill>
              </a:rPr>
              <a:t>each message</a:t>
            </a:r>
            <a:r>
              <a:rPr lang="en">
                <a:solidFill>
                  <a:schemeClr val="dk1"/>
                </a:solidFill>
              </a:rPr>
              <a:t> is delivered </a:t>
            </a:r>
            <a:r>
              <a:rPr b="1" lang="en">
                <a:solidFill>
                  <a:schemeClr val="dk1"/>
                </a:solidFill>
              </a:rPr>
              <a:t>at least once</a:t>
            </a:r>
            <a:r>
              <a:rPr lang="en">
                <a:solidFill>
                  <a:schemeClr val="dk1"/>
                </a:solidFill>
              </a:rPr>
              <a:t> to a consumer group, but duplicates may occur in failure scenarios.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a </a:t>
            </a:r>
            <a:r>
              <a:rPr b="1" lang="en">
                <a:solidFill>
                  <a:schemeClr val="dk1"/>
                </a:solidFill>
              </a:rPr>
              <a:t>consumer crashes</a:t>
            </a:r>
            <a:r>
              <a:rPr lang="en">
                <a:solidFill>
                  <a:schemeClr val="dk1"/>
                </a:solidFill>
              </a:rPr>
              <a:t> before committing its offset, </a:t>
            </a:r>
            <a:r>
              <a:rPr b="1" lang="en">
                <a:solidFill>
                  <a:schemeClr val="dk1"/>
                </a:solidFill>
              </a:rPr>
              <a:t>another consumer</a:t>
            </a:r>
            <a:r>
              <a:rPr lang="en">
                <a:solidFill>
                  <a:schemeClr val="dk1"/>
                </a:solidFill>
              </a:rPr>
              <a:t> may reprocess the same messages, leading to </a:t>
            </a:r>
            <a:r>
              <a:rPr b="1" lang="en">
                <a:solidFill>
                  <a:schemeClr val="dk1"/>
                </a:solidFill>
              </a:rPr>
              <a:t>duplicate consumption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11" name="Google Shape;311;p53" title="Screenshot 2026-02-18 at 22.16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250" y="2571750"/>
            <a:ext cx="6758999" cy="14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Delivery Guarantees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17" name="Google Shape;317;p54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ensures that </a:t>
            </a:r>
            <a:r>
              <a:rPr b="1" lang="en">
                <a:solidFill>
                  <a:schemeClr val="dk1"/>
                </a:solidFill>
              </a:rPr>
              <a:t>each message</a:t>
            </a:r>
            <a:r>
              <a:rPr lang="en">
                <a:solidFill>
                  <a:schemeClr val="dk1"/>
                </a:solidFill>
              </a:rPr>
              <a:t> is delivered </a:t>
            </a:r>
            <a:r>
              <a:rPr b="1" lang="en">
                <a:solidFill>
                  <a:schemeClr val="dk1"/>
                </a:solidFill>
              </a:rPr>
              <a:t>at least once</a:t>
            </a:r>
            <a:r>
              <a:rPr lang="en">
                <a:solidFill>
                  <a:schemeClr val="dk1"/>
                </a:solidFill>
              </a:rPr>
              <a:t> to a consumer group, but duplicates may occur in failure scenarios.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a </a:t>
            </a:r>
            <a:r>
              <a:rPr b="1" lang="en">
                <a:solidFill>
                  <a:schemeClr val="dk1"/>
                </a:solidFill>
              </a:rPr>
              <a:t>consumer crashes</a:t>
            </a:r>
            <a:r>
              <a:rPr lang="en">
                <a:solidFill>
                  <a:schemeClr val="dk1"/>
                </a:solidFill>
              </a:rPr>
              <a:t> before committing its offset, </a:t>
            </a:r>
            <a:r>
              <a:rPr b="1" lang="en">
                <a:solidFill>
                  <a:schemeClr val="dk1"/>
                </a:solidFill>
              </a:rPr>
              <a:t>another consumer</a:t>
            </a:r>
            <a:r>
              <a:rPr lang="en">
                <a:solidFill>
                  <a:schemeClr val="dk1"/>
                </a:solidFill>
              </a:rPr>
              <a:t> may reprocess the same messages, leading to </a:t>
            </a:r>
            <a:r>
              <a:rPr b="1" lang="en">
                <a:solidFill>
                  <a:schemeClr val="dk1"/>
                </a:solidFill>
              </a:rPr>
              <a:t>duplicate consumption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18" name="Google Shape;318;p54" title="Screenshot 2026-02-18 at 22.21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075" y="2419875"/>
            <a:ext cx="6977401" cy="16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Delivery Guarantees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24" name="Google Shape;324;p55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Applications that require </a:t>
            </a:r>
            <a:r>
              <a:rPr b="1" lang="en">
                <a:solidFill>
                  <a:schemeClr val="dk1"/>
                </a:solidFill>
              </a:rPr>
              <a:t>exactly-once semantics</a:t>
            </a:r>
            <a:r>
              <a:rPr lang="en">
                <a:solidFill>
                  <a:schemeClr val="dk1"/>
                </a:solidFill>
              </a:rPr>
              <a:t> must implement their own deduplication logic using message offsets.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preserves the</a:t>
            </a:r>
            <a:r>
              <a:rPr b="1" lang="en">
                <a:solidFill>
                  <a:schemeClr val="dk1"/>
                </a:solidFill>
              </a:rPr>
              <a:t> order of messages</a:t>
            </a:r>
            <a:r>
              <a:rPr lang="en">
                <a:solidFill>
                  <a:schemeClr val="dk1"/>
                </a:solidFill>
              </a:rPr>
              <a:t> within a </a:t>
            </a:r>
            <a:r>
              <a:rPr b="1" lang="en">
                <a:solidFill>
                  <a:schemeClr val="dk1"/>
                </a:solidFill>
              </a:rPr>
              <a:t>single partition</a:t>
            </a:r>
            <a:r>
              <a:rPr lang="en">
                <a:solidFill>
                  <a:schemeClr val="dk1"/>
                </a:solidFill>
              </a:rPr>
              <a:t>, but does not guarantee ordering across multiple partitions in a topic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Kafka stores a CRC(</a:t>
            </a:r>
            <a:r>
              <a:rPr lang="en">
                <a:solidFill>
                  <a:srgbClr val="001D35"/>
                </a:solidFill>
                <a:highlight>
                  <a:srgbClr val="FFFFFF"/>
                </a:highlight>
              </a:rPr>
              <a:t>Cyclic Redundancy Check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) for each message to detect corruption; corrupted messages are removed during broker recovery, and CRCs can also detect network transmission errors.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1397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Kafka at LinkedIn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30" name="Google Shape;330;p56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Production Deployment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Kafka cluster per datacenter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Frontend services publish logs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Online consumers process real-time data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Offline consumers load data into Hadoop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End-to-end latency ≈ 10 seconds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31" name="Google Shape;331;p56" title="Screenshot 2026-02-13 at 22.09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200" y="1216250"/>
            <a:ext cx="3804349" cy="33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7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Replication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337" name="Google Shape;337;p57" title="Screenshot 2026-02-16 at 13.43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725" y="1073125"/>
            <a:ext cx="6480792" cy="38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8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Replica Assignment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343" name="Google Shape;343;p58" title="Screenshot 2026-02-16 at 13.58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88" y="1083200"/>
            <a:ext cx="7344014" cy="382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9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Replica Data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349" name="Google Shape;349;p59" title="Screenshot 2026-02-16 at 14.01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375" y="1311919"/>
            <a:ext cx="8172599" cy="2519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Experimental Setup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55" name="Google Shape;355;p60"/>
          <p:cNvSpPr txBox="1"/>
          <p:nvPr/>
        </p:nvSpPr>
        <p:spPr>
          <a:xfrm>
            <a:off x="900575" y="1012125"/>
            <a:ext cx="75204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Performance Evaluation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Compared with: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Apache ActiveMQ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RabbitMQ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Test environment: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2 Linux machines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1Gb network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10 million messages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1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Experimental Setup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361" name="Google Shape;361;p61" title="Screenshot 2026-02-13 at 22.01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0" y="937749"/>
            <a:ext cx="7955052" cy="31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2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Key Takeaways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67" name="Google Shape;367;p62"/>
          <p:cNvSpPr txBox="1"/>
          <p:nvPr/>
        </p:nvSpPr>
        <p:spPr>
          <a:xfrm>
            <a:off x="687025" y="1346225"/>
            <a:ext cx="70005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Why Kafka Works Well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Optimized for log processing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High throughput, scalable design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Simple API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Supports both real-time and offline workloads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Proven in production at LinkedIn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3"/>
          <p:cNvSpPr txBox="1"/>
          <p:nvPr/>
        </p:nvSpPr>
        <p:spPr>
          <a:xfrm>
            <a:off x="485700" y="308625"/>
            <a:ext cx="8172600" cy="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Reference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73" name="Google Shape;373;p63"/>
          <p:cNvSpPr txBox="1"/>
          <p:nvPr/>
        </p:nvSpPr>
        <p:spPr>
          <a:xfrm>
            <a:off x="687025" y="1346225"/>
            <a:ext cx="7000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1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Kafka: a Distributed Messaging System for Log Processing</a:t>
            </a:r>
            <a:endParaRPr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