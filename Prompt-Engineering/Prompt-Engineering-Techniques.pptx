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9144000"/>
  <p:notesSz cx="6858000" cy="9144000"/>
  <p:embeddedFontLst>
    <p:embeddedFont>
      <p:font typeface="Robo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CQSEt4Oad52Ixq3vopoDQchTm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Roboto-bold.fntdata"/><Relationship Id="rId14" Type="http://schemas.openxmlformats.org/officeDocument/2006/relationships/slide" Target="slides/slide10.xml"/><Relationship Id="rId36" Type="http://schemas.openxmlformats.org/officeDocument/2006/relationships/font" Target="fonts/Roboto-regular.fntdata"/><Relationship Id="rId17" Type="http://schemas.openxmlformats.org/officeDocument/2006/relationships/slide" Target="slides/slide13.xml"/><Relationship Id="rId39" Type="http://schemas.openxmlformats.org/officeDocument/2006/relationships/font" Target="fonts/Roboto-boldItalic.fntdata"/><Relationship Id="rId16" Type="http://schemas.openxmlformats.org/officeDocument/2006/relationships/slide" Target="slides/slide12.xml"/><Relationship Id="rId38" Type="http://schemas.openxmlformats.org/officeDocument/2006/relationships/font" Target="fonts/Roboto-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2cb8f632ca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32cb8f632ca_0_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2cd9e9c10f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2cd9e9c10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Diaeresis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7995af863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old AI: Relied on rules, keywords, and simple statistics, ignored deep context, Now: Understand words based on surrounding context</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
        <p:nvSpPr>
          <p:cNvPr id="126" name="Google Shape;126;g3b7995af863_0_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sz="1100">
                <a:latin typeface="Arial"/>
                <a:ea typeface="Arial"/>
                <a:cs typeface="Arial"/>
                <a:sym typeface="Arial"/>
              </a:rPr>
              <a:t>An LLM (Large Language Model) is an AI model trained on massive amounts of text to understand, generate, and reason with human language. </a:t>
            </a:r>
            <a:endParaRPr sz="1100">
              <a:latin typeface="Arial"/>
              <a:ea typeface="Arial"/>
              <a:cs typeface="Arial"/>
              <a:sym typeface="Arial"/>
            </a:endParaRPr>
          </a:p>
        </p:txBody>
      </p:sp>
      <p:sp>
        <p:nvSpPr>
          <p:cNvPr id="133" name="Google Shape;13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7995af863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It learns patterns, Context-aware, neural network based architecture, general purpose tasks like QA, summarization, translation, coding etc.</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
        <p:nvSpPr>
          <p:cNvPr id="141" name="Google Shape;141;g3b7995af863_0_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7995af863_0_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b7995af863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Diaeresis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49" name="Google Shape;149;g3b7995af863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7995af863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Usually, a query is passed to the LLM as text input. The LLM analyzes the query and its context and It generates an answer based on learned knowledge.</a:t>
            </a:r>
            <a:endParaRPr sz="1100">
              <a:latin typeface="Arial"/>
              <a:ea typeface="Arial"/>
              <a:cs typeface="Arial"/>
              <a:sym typeface="Arial"/>
            </a:endParaRPr>
          </a:p>
        </p:txBody>
      </p:sp>
      <p:sp>
        <p:nvSpPr>
          <p:cNvPr id="154" name="Google Shape;154;g3b7995af863_0_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7995af863_0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Prepare to exam, eager learner will study all material and learn (long training time (study time) and short test time). Lazy learner will not study but get all material and find similar problems.</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K-Nearest Neighbors (KNN) is an </a:t>
            </a:r>
            <a:r>
              <a:rPr b="1" lang="en-US" sz="1100">
                <a:latin typeface="Arial"/>
                <a:ea typeface="Arial"/>
                <a:cs typeface="Arial"/>
                <a:sym typeface="Arial"/>
              </a:rPr>
              <a:t>instance-based learning algorithm</a:t>
            </a:r>
            <a:r>
              <a:rPr lang="en-US" sz="1100">
                <a:latin typeface="Arial"/>
                <a:ea typeface="Arial"/>
                <a:cs typeface="Arial"/>
                <a:sym typeface="Arial"/>
              </a:rPr>
              <a:t>, meaning it does not explicitly learn a model during training but instead memorizes the training data and makes predictions based on similarity.</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
        <p:nvSpPr>
          <p:cNvPr id="161" name="Google Shape;161;g3b7995af863_0_16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7995af863_0_1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b7995af863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Diaeresis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68" name="Google Shape;168;g3b7995af863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K-Nearest Neighbors (KNN) is considered a </a:t>
            </a:r>
            <a:r>
              <a:rPr b="1" lang="en-US" sz="1100">
                <a:latin typeface="Arial"/>
                <a:ea typeface="Arial"/>
                <a:cs typeface="Arial"/>
                <a:sym typeface="Arial"/>
              </a:rPr>
              <a:t>non-parametric algorithm</a:t>
            </a:r>
            <a:r>
              <a:rPr lang="en-US" sz="1100">
                <a:latin typeface="Arial"/>
                <a:ea typeface="Arial"/>
                <a:cs typeface="Arial"/>
                <a:sym typeface="Arial"/>
              </a:rPr>
              <a:t>, meaning it does not make strong assumptions about the underlying data distribution. Instead, it relies on the training data itself to make predictions.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173" name="Google Shape;173;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7995af863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Bad Prompt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Vague or unclear instructions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Missing context or constraints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Leads to generic or incorrect answers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Requires multiple follow-up questions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Good Prompt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Clear and specific instructions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Provides necessary context or examples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Produces accurate and relevant answers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Saves time and reduces errors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1100">
              <a:latin typeface="Arial"/>
              <a:ea typeface="Arial"/>
              <a:cs typeface="Arial"/>
              <a:sym typeface="Arial"/>
            </a:endParaRPr>
          </a:p>
        </p:txBody>
      </p:sp>
      <p:sp>
        <p:nvSpPr>
          <p:cNvPr id="179" name="Google Shape;179;g3b7995af863_0_1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7995af863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b7995af863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Diaeresis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87" name="Google Shape;187;g3b7995af863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7995af863_0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K-Nearest Neighbors (KNN) is considered a </a:t>
            </a:r>
            <a:r>
              <a:rPr b="1" lang="en-US" sz="1100">
                <a:latin typeface="Arial"/>
                <a:ea typeface="Arial"/>
                <a:cs typeface="Arial"/>
                <a:sym typeface="Arial"/>
              </a:rPr>
              <a:t>non-parametric algorithm</a:t>
            </a:r>
            <a:r>
              <a:rPr lang="en-US" sz="1100">
                <a:latin typeface="Arial"/>
                <a:ea typeface="Arial"/>
                <a:cs typeface="Arial"/>
                <a:sym typeface="Arial"/>
              </a:rPr>
              <a:t>, meaning it does not make strong assumptions about the underlying data distribution. Instead, it relies on the training data itself to make predictions.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192" name="Google Shape;192;g3b7995af863_0_19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7995af863_0_1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Zero-shot Prompting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model is given </a:t>
            </a:r>
            <a:r>
              <a:rPr b="1" lang="en-US" sz="1100">
                <a:latin typeface="Arial"/>
                <a:ea typeface="Arial"/>
                <a:cs typeface="Arial"/>
                <a:sym typeface="Arial"/>
              </a:rPr>
              <a:t>only a task description</a:t>
            </a:r>
            <a:r>
              <a:rPr lang="en-US" sz="1100">
                <a:latin typeface="Arial"/>
                <a:ea typeface="Arial"/>
                <a:cs typeface="Arial"/>
                <a:sym typeface="Arial"/>
              </a:rPr>
              <a:t>, with </a:t>
            </a:r>
            <a:r>
              <a:rPr b="1" lang="en-US" sz="1100">
                <a:latin typeface="Arial"/>
                <a:ea typeface="Arial"/>
                <a:cs typeface="Arial"/>
                <a:sym typeface="Arial"/>
              </a:rPr>
              <a:t>no examples</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It relies entirely on its </a:t>
            </a:r>
            <a:r>
              <a:rPr b="1" lang="en-US" sz="1100">
                <a:latin typeface="Arial"/>
                <a:ea typeface="Arial"/>
                <a:cs typeface="Arial"/>
                <a:sym typeface="Arial"/>
              </a:rPr>
              <a:t>pretrained knowledge</a:t>
            </a:r>
            <a:r>
              <a:rPr lang="en-US" sz="1100">
                <a:latin typeface="Arial"/>
                <a:ea typeface="Arial"/>
                <a:cs typeface="Arial"/>
                <a:sym typeface="Arial"/>
              </a:rPr>
              <a:t> to respond.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Example: </a:t>
            </a:r>
            <a:r>
              <a:rPr i="1" lang="en-US" sz="1100">
                <a:latin typeface="Arial"/>
                <a:ea typeface="Arial"/>
                <a:cs typeface="Arial"/>
                <a:sym typeface="Arial"/>
              </a:rPr>
              <a:t>“Classify the sentiment of this text.”</a:t>
            </a:r>
            <a:endParaRPr sz="1100">
              <a:latin typeface="Arial"/>
              <a:ea typeface="Arial"/>
              <a:cs typeface="Arial"/>
              <a:sym typeface="Arial"/>
            </a:endParaRPr>
          </a:p>
        </p:txBody>
      </p:sp>
      <p:sp>
        <p:nvSpPr>
          <p:cNvPr id="198" name="Google Shape;198;g3b7995af863_0_19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7995af863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K-Nearest Neighbors (KNN) is considered a </a:t>
            </a:r>
            <a:r>
              <a:rPr b="1" lang="en-US" sz="1100">
                <a:latin typeface="Arial"/>
                <a:ea typeface="Arial"/>
                <a:cs typeface="Arial"/>
                <a:sym typeface="Arial"/>
              </a:rPr>
              <a:t>non-parametric algorithm</a:t>
            </a:r>
            <a:r>
              <a:rPr lang="en-US" sz="1100">
                <a:latin typeface="Arial"/>
                <a:ea typeface="Arial"/>
                <a:cs typeface="Arial"/>
                <a:sym typeface="Arial"/>
              </a:rPr>
              <a:t>, meaning it does not make strong assumptions about the underlying data distribution. Instead, it relies on the training data itself to make predictions.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04" name="Google Shape;204;g3b7995af863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7995af863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Few-shot Prompting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model is given a task </a:t>
            </a:r>
            <a:r>
              <a:rPr b="1" lang="en-US" sz="1100">
                <a:latin typeface="Arial"/>
                <a:ea typeface="Arial"/>
                <a:cs typeface="Arial"/>
                <a:sym typeface="Arial"/>
              </a:rPr>
              <a:t>along with a few examples</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Examples help the model understand the </a:t>
            </a:r>
            <a:r>
              <a:rPr b="1" lang="en-US" sz="1100">
                <a:latin typeface="Arial"/>
                <a:ea typeface="Arial"/>
                <a:cs typeface="Arial"/>
                <a:sym typeface="Arial"/>
              </a:rPr>
              <a:t>desired format and behavior</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Example: Showing 2–3 labeled sentiment examples before asking a new one.</a:t>
            </a:r>
            <a:endParaRPr sz="1100">
              <a:latin typeface="Arial"/>
              <a:ea typeface="Arial"/>
              <a:cs typeface="Arial"/>
              <a:sym typeface="Arial"/>
            </a:endParaRPr>
          </a:p>
        </p:txBody>
      </p:sp>
      <p:sp>
        <p:nvSpPr>
          <p:cNvPr id="210" name="Google Shape;210;g3b7995af863_0_20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7995af863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K-Nearest Neighbors (KNN) is considered a </a:t>
            </a:r>
            <a:r>
              <a:rPr b="1" lang="en-US" sz="1100">
                <a:latin typeface="Arial"/>
                <a:ea typeface="Arial"/>
                <a:cs typeface="Arial"/>
                <a:sym typeface="Arial"/>
              </a:rPr>
              <a:t>non-parametric algorithm</a:t>
            </a:r>
            <a:r>
              <a:rPr lang="en-US" sz="1100">
                <a:latin typeface="Arial"/>
                <a:ea typeface="Arial"/>
                <a:cs typeface="Arial"/>
                <a:sym typeface="Arial"/>
              </a:rPr>
              <a:t>, meaning it does not make strong assumptions about the underlying data distribution. Instead, it relies on the training data itself to make predictions.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16" name="Google Shape;216;g3b7995af863_0_2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7995af863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Chain-of-Thought Prompting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Encourages the model to </a:t>
            </a:r>
            <a:r>
              <a:rPr b="1" lang="en-US" sz="1100">
                <a:latin typeface="Arial"/>
                <a:ea typeface="Arial"/>
                <a:cs typeface="Arial"/>
                <a:sym typeface="Arial"/>
              </a:rPr>
              <a:t>reason step by step</a:t>
            </a:r>
            <a:r>
              <a:rPr lang="en-US" sz="1100">
                <a:latin typeface="Arial"/>
                <a:ea typeface="Arial"/>
                <a:cs typeface="Arial"/>
                <a:sym typeface="Arial"/>
              </a:rPr>
              <a:t> before giving the final answer.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Improves performance on </a:t>
            </a:r>
            <a:r>
              <a:rPr b="1" lang="en-US" sz="1100">
                <a:latin typeface="Arial"/>
                <a:ea typeface="Arial"/>
                <a:cs typeface="Arial"/>
                <a:sym typeface="Arial"/>
              </a:rPr>
              <a:t>complex reasoning and math problems</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1100">
              <a:latin typeface="Arial"/>
              <a:ea typeface="Arial"/>
              <a:cs typeface="Arial"/>
              <a:sym typeface="Arial"/>
            </a:endParaRPr>
          </a:p>
        </p:txBody>
      </p:sp>
      <p:sp>
        <p:nvSpPr>
          <p:cNvPr id="222" name="Google Shape;222;g3b7995af863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b7995af863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29" name="Google Shape;229;g3b7995af863_0_2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717a8d30f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35" name="Google Shape;235;g3b717a8d30f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717a8d30f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41" name="Google Shape;241;g3b717a8d30f_0_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7995af863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47" name="Google Shape;247;g3b7995af863_0_2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7995af863_0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Self-Consistency Prompting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model generates </a:t>
            </a:r>
            <a:r>
              <a:rPr b="1" lang="en-US" sz="1100">
                <a:latin typeface="Arial"/>
                <a:ea typeface="Arial"/>
                <a:cs typeface="Arial"/>
                <a:sym typeface="Arial"/>
              </a:rPr>
              <a:t>multiple reasoning paths</a:t>
            </a:r>
            <a:r>
              <a:rPr lang="en-US" sz="1100">
                <a:latin typeface="Arial"/>
                <a:ea typeface="Arial"/>
                <a:cs typeface="Arial"/>
                <a:sym typeface="Arial"/>
              </a:rPr>
              <a:t> for the same question.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final answer is chosen based on the </a:t>
            </a:r>
            <a:r>
              <a:rPr b="1" lang="en-US" sz="1100">
                <a:latin typeface="Arial"/>
                <a:ea typeface="Arial"/>
                <a:cs typeface="Arial"/>
                <a:sym typeface="Arial"/>
              </a:rPr>
              <a:t>most consistent result</a:t>
            </a:r>
            <a:r>
              <a:rPr lang="en-US" sz="1100">
                <a:latin typeface="Arial"/>
                <a:ea typeface="Arial"/>
                <a:cs typeface="Arial"/>
                <a:sym typeface="Arial"/>
              </a:rPr>
              <a:t> across responses.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53" name="Google Shape;253;g3b7995af863_0_2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7995af863_0_2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60" name="Google Shape;260;g3b7995af863_0_2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717a8d30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66" name="Google Shape;266;g3b717a8d30f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717a8d30f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72" name="Google Shape;272;g3b717a8d30f_0_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7995af863_0_2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Why is KNN Non-Parametric?</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No Fixed Number of Parameters:</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parametric algorithms (e.g., linear regression, logistic regression), the model has a fixed number of parameters (like weights and biases) that are learned from the data.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KNN does not learn a fixed set of parameters; instead, it stores the entire dataset and uses it to classify new instances.</a:t>
            </a:r>
            <a:endParaRPr sz="1100">
              <a:latin typeface="Arial"/>
              <a:ea typeface="Arial"/>
              <a:cs typeface="Arial"/>
              <a:sym typeface="Arial"/>
            </a:endParaRPr>
          </a:p>
          <a:p>
            <a:pPr indent="0" lvl="0" marL="0" rtl="0" algn="l">
              <a:lnSpc>
                <a:spcPct val="100000"/>
              </a:lnSpc>
              <a:spcBef>
                <a:spcPts val="120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78" name="Google Shape;278;g3b7995af863_0_2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7995af863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ReAct Prompting (Reason + Act)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Combines </a:t>
            </a:r>
            <a:r>
              <a:rPr b="1" lang="en-US" sz="1100">
                <a:latin typeface="Arial"/>
                <a:ea typeface="Arial"/>
                <a:cs typeface="Arial"/>
                <a:sym typeface="Arial"/>
              </a:rPr>
              <a:t>reasoning steps</a:t>
            </a:r>
            <a:r>
              <a:rPr lang="en-US" sz="1100">
                <a:latin typeface="Arial"/>
                <a:ea typeface="Arial"/>
                <a:cs typeface="Arial"/>
                <a:sym typeface="Arial"/>
              </a:rPr>
              <a:t> with </a:t>
            </a:r>
            <a:r>
              <a:rPr b="1" lang="en-US" sz="1100">
                <a:latin typeface="Arial"/>
                <a:ea typeface="Arial"/>
                <a:cs typeface="Arial"/>
                <a:sym typeface="Arial"/>
              </a:rPr>
              <a:t>actions</a:t>
            </a:r>
            <a:r>
              <a:rPr lang="en-US" sz="1100">
                <a:latin typeface="Arial"/>
                <a:ea typeface="Arial"/>
                <a:cs typeface="Arial"/>
                <a:sym typeface="Arial"/>
              </a:rPr>
              <a:t> (e.g., tool use or information retrieval).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Allows the model to </a:t>
            </a:r>
            <a:r>
              <a:rPr b="1" lang="en-US" sz="1100">
                <a:latin typeface="Arial"/>
                <a:ea typeface="Arial"/>
                <a:cs typeface="Arial"/>
                <a:sym typeface="Arial"/>
              </a:rPr>
              <a:t>think, act, observe, and refine</a:t>
            </a:r>
            <a:r>
              <a:rPr lang="en-US" sz="1100">
                <a:latin typeface="Arial"/>
                <a:ea typeface="Arial"/>
                <a:cs typeface="Arial"/>
                <a:sym typeface="Arial"/>
              </a:rPr>
              <a:t> its answer iteratively.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84" name="Google Shape;284;g3b7995af863_0_2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717a8d30f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ReAct Prompting (Reason + Act)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Combines </a:t>
            </a:r>
            <a:r>
              <a:rPr b="1" lang="en-US" sz="1100">
                <a:latin typeface="Arial"/>
                <a:ea typeface="Arial"/>
                <a:cs typeface="Arial"/>
                <a:sym typeface="Arial"/>
              </a:rPr>
              <a:t>reasoning steps</a:t>
            </a:r>
            <a:r>
              <a:rPr lang="en-US" sz="1100">
                <a:latin typeface="Arial"/>
                <a:ea typeface="Arial"/>
                <a:cs typeface="Arial"/>
                <a:sym typeface="Arial"/>
              </a:rPr>
              <a:t> with </a:t>
            </a:r>
            <a:r>
              <a:rPr b="1" lang="en-US" sz="1100">
                <a:latin typeface="Arial"/>
                <a:ea typeface="Arial"/>
                <a:cs typeface="Arial"/>
                <a:sym typeface="Arial"/>
              </a:rPr>
              <a:t>actions</a:t>
            </a:r>
            <a:r>
              <a:rPr lang="en-US" sz="1100">
                <a:latin typeface="Arial"/>
                <a:ea typeface="Arial"/>
                <a:cs typeface="Arial"/>
                <a:sym typeface="Arial"/>
              </a:rPr>
              <a:t> (e.g., tool use or information retrieval).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Allows the model to </a:t>
            </a:r>
            <a:r>
              <a:rPr b="1" lang="en-US" sz="1100">
                <a:latin typeface="Arial"/>
                <a:ea typeface="Arial"/>
                <a:cs typeface="Arial"/>
                <a:sym typeface="Arial"/>
              </a:rPr>
              <a:t>think, act, observe, and refine</a:t>
            </a:r>
            <a:r>
              <a:rPr lang="en-US" sz="1100">
                <a:latin typeface="Arial"/>
                <a:ea typeface="Arial"/>
                <a:cs typeface="Arial"/>
                <a:sym typeface="Arial"/>
              </a:rPr>
              <a:t> its answer iteratively.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91" name="Google Shape;291;g3b717a8d30f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717a8d30f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ReAct Prompting (Reason + Act)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Combines </a:t>
            </a:r>
            <a:r>
              <a:rPr b="1" lang="en-US" sz="1100">
                <a:latin typeface="Arial"/>
                <a:ea typeface="Arial"/>
                <a:cs typeface="Arial"/>
                <a:sym typeface="Arial"/>
              </a:rPr>
              <a:t>reasoning steps</a:t>
            </a:r>
            <a:r>
              <a:rPr lang="en-US" sz="1100">
                <a:latin typeface="Arial"/>
                <a:ea typeface="Arial"/>
                <a:cs typeface="Arial"/>
                <a:sym typeface="Arial"/>
              </a:rPr>
              <a:t> with </a:t>
            </a:r>
            <a:r>
              <a:rPr b="1" lang="en-US" sz="1100">
                <a:latin typeface="Arial"/>
                <a:ea typeface="Arial"/>
                <a:cs typeface="Arial"/>
                <a:sym typeface="Arial"/>
              </a:rPr>
              <a:t>actions</a:t>
            </a:r>
            <a:r>
              <a:rPr lang="en-US" sz="1100">
                <a:latin typeface="Arial"/>
                <a:ea typeface="Arial"/>
                <a:cs typeface="Arial"/>
                <a:sym typeface="Arial"/>
              </a:rPr>
              <a:t> (e.g., tool use or information retrieval).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Allows the model to </a:t>
            </a:r>
            <a:r>
              <a:rPr b="1" lang="en-US" sz="1100">
                <a:latin typeface="Arial"/>
                <a:ea typeface="Arial"/>
                <a:cs typeface="Arial"/>
                <a:sym typeface="Arial"/>
              </a:rPr>
              <a:t>think, act, observe, and refine</a:t>
            </a:r>
            <a:r>
              <a:rPr lang="en-US" sz="1100">
                <a:latin typeface="Arial"/>
                <a:ea typeface="Arial"/>
                <a:cs typeface="Arial"/>
                <a:sym typeface="Arial"/>
              </a:rPr>
              <a:t> its answer iteratively.</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p:txBody>
      </p:sp>
      <p:sp>
        <p:nvSpPr>
          <p:cNvPr id="297" name="Google Shape;297;g3b717a8d30f_0_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8"/>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Georgia"/>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8"/>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4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g32cd9e9c10f_0_81"/>
          <p:cNvCxnSpPr/>
          <p:nvPr/>
        </p:nvCxnSpPr>
        <p:spPr>
          <a:xfrm>
            <a:off x="492563" y="1680379"/>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g32cd9e9c10f_0_81"/>
          <p:cNvSpPr txBox="1"/>
          <p:nvPr>
            <p:ph type="title"/>
          </p:nvPr>
        </p:nvSpPr>
        <p:spPr>
          <a:xfrm>
            <a:off x="387900" y="610700"/>
            <a:ext cx="8368200" cy="914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 name="Google Shape;24;g32cd9e9c10f_0_81"/>
          <p:cNvSpPr txBox="1"/>
          <p:nvPr>
            <p:ph idx="1" type="body"/>
          </p:nvPr>
        </p:nvSpPr>
        <p:spPr>
          <a:xfrm>
            <a:off x="387900" y="1852433"/>
            <a:ext cx="3948600" cy="4155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AutoNum type="arabicPeriod"/>
              <a:defRPr b="1" sz="1500"/>
            </a:lvl1pPr>
            <a:lvl2pPr indent="-317500" lvl="1" marL="914400" algn="l">
              <a:lnSpc>
                <a:spcPct val="115000"/>
              </a:lnSpc>
              <a:spcBef>
                <a:spcPts val="0"/>
              </a:spcBef>
              <a:spcAft>
                <a:spcPts val="0"/>
              </a:spcAft>
              <a:buSzPts val="1400"/>
              <a:buAutoNum type="arabicPeriod"/>
              <a:defRPr/>
            </a:lvl2pPr>
            <a:lvl3pPr indent="-317500" lvl="2" marL="1371600" algn="l">
              <a:lnSpc>
                <a:spcPct val="115000"/>
              </a:lnSpc>
              <a:spcBef>
                <a:spcPts val="0"/>
              </a:spcBef>
              <a:spcAft>
                <a:spcPts val="0"/>
              </a:spcAft>
              <a:buSzPts val="1400"/>
              <a:buAutoNum type="arabicPeriod"/>
              <a:defRPr/>
            </a:lvl3pPr>
            <a:lvl4pPr indent="-317500" lvl="3" marL="1828800" algn="l">
              <a:lnSpc>
                <a:spcPct val="115000"/>
              </a:lnSpc>
              <a:spcBef>
                <a:spcPts val="0"/>
              </a:spcBef>
              <a:spcAft>
                <a:spcPts val="0"/>
              </a:spcAft>
              <a:buSzPts val="1400"/>
              <a:buAutoNum type="arabicPeriod"/>
              <a:defRPr/>
            </a:lvl4pPr>
            <a:lvl5pPr indent="-317500" lvl="4" marL="2286000" algn="l">
              <a:lnSpc>
                <a:spcPct val="115000"/>
              </a:lnSpc>
              <a:spcBef>
                <a:spcPts val="0"/>
              </a:spcBef>
              <a:spcAft>
                <a:spcPts val="0"/>
              </a:spcAft>
              <a:buSzPts val="1400"/>
              <a:buAutoNum type="arabicPeriod"/>
              <a:defRPr/>
            </a:lvl5pPr>
            <a:lvl6pPr indent="-317500" lvl="5" marL="2743200" algn="l">
              <a:lnSpc>
                <a:spcPct val="115000"/>
              </a:lnSpc>
              <a:spcBef>
                <a:spcPts val="0"/>
              </a:spcBef>
              <a:spcAft>
                <a:spcPts val="0"/>
              </a:spcAft>
              <a:buSzPts val="1400"/>
              <a:buAutoNum type="arabicPeriod"/>
              <a:defRPr/>
            </a:lvl6pPr>
            <a:lvl7pPr indent="-317500" lvl="6" marL="3200400" algn="l">
              <a:lnSpc>
                <a:spcPct val="115000"/>
              </a:lnSpc>
              <a:spcBef>
                <a:spcPts val="0"/>
              </a:spcBef>
              <a:spcAft>
                <a:spcPts val="0"/>
              </a:spcAft>
              <a:buSzPts val="1400"/>
              <a:buAutoNum type="arabicPeriod"/>
              <a:defRPr/>
            </a:lvl7pPr>
            <a:lvl8pPr indent="-317500" lvl="7" marL="3657600" algn="l">
              <a:lnSpc>
                <a:spcPct val="115000"/>
              </a:lnSpc>
              <a:spcBef>
                <a:spcPts val="0"/>
              </a:spcBef>
              <a:spcAft>
                <a:spcPts val="0"/>
              </a:spcAft>
              <a:buSzPts val="1400"/>
              <a:buAutoNum type="arabicPeriod"/>
              <a:defRPr/>
            </a:lvl8pPr>
            <a:lvl9pPr indent="-317500" lvl="8" marL="4114800" algn="l">
              <a:lnSpc>
                <a:spcPct val="115000"/>
              </a:lnSpc>
              <a:spcBef>
                <a:spcPts val="0"/>
              </a:spcBef>
              <a:spcAft>
                <a:spcPts val="0"/>
              </a:spcAft>
              <a:buSzPts val="1400"/>
              <a:buAutoNum type="arabicPeriod"/>
              <a:defRPr/>
            </a:lvl9pPr>
          </a:lstStyle>
          <a:p/>
        </p:txBody>
      </p:sp>
      <p:sp>
        <p:nvSpPr>
          <p:cNvPr id="25" name="Google Shape;25;g32cd9e9c10f_0_81"/>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g32cd9e9c10f_0_81"/>
          <p:cNvPicPr preferRelativeResize="0"/>
          <p:nvPr/>
        </p:nvPicPr>
        <p:blipFill rotWithShape="1">
          <a:blip r:embed="rId2">
            <a:alphaModFix/>
          </a:blip>
          <a:srcRect b="0" l="1351" r="0" t="0"/>
          <a:stretch/>
        </p:blipFill>
        <p:spPr>
          <a:xfrm>
            <a:off x="100800" y="0"/>
            <a:ext cx="490850" cy="6166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9"/>
          <p:cNvSpPr txBox="1"/>
          <p:nvPr>
            <p:ph type="title"/>
          </p:nvPr>
        </p:nvSpPr>
        <p:spPr>
          <a:xfrm>
            <a:off x="628650" y="2093649"/>
            <a:ext cx="7886700" cy="28527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Georgia"/>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9"/>
          <p:cNvSpPr txBox="1"/>
          <p:nvPr>
            <p:ph idx="1" type="body"/>
          </p:nvPr>
        </p:nvSpPr>
        <p:spPr>
          <a:xfrm>
            <a:off x="623888" y="4589466"/>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4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pic>
        <p:nvPicPr>
          <p:cNvPr descr="Classroom" id="33" name="Google Shape;33;p49"/>
          <p:cNvPicPr preferRelativeResize="0"/>
          <p:nvPr/>
        </p:nvPicPr>
        <p:blipFill rotWithShape="1">
          <a:blip r:embed="rId2">
            <a:alphaModFix/>
          </a:blip>
          <a:srcRect b="0" l="0" r="0" t="0"/>
          <a:stretch/>
        </p:blipFill>
        <p:spPr>
          <a:xfrm>
            <a:off x="4110038" y="2678909"/>
            <a:ext cx="914400" cy="914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50"/>
          <p:cNvSpPr txBox="1"/>
          <p:nvPr>
            <p:ph type="title"/>
          </p:nvPr>
        </p:nvSpPr>
        <p:spPr>
          <a:xfrm>
            <a:off x="628650" y="10901"/>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0"/>
          <p:cNvSpPr txBox="1"/>
          <p:nvPr>
            <p:ph idx="1" type="body"/>
          </p:nvPr>
        </p:nvSpPr>
        <p:spPr>
          <a:xfrm>
            <a:off x="628650" y="1379502"/>
            <a:ext cx="7886700" cy="4669439"/>
          </a:xfrm>
          <a:prstGeom prst="rect">
            <a:avLst/>
          </a:prstGeom>
          <a:noFill/>
          <a:ln>
            <a:noFill/>
          </a:ln>
        </p:spPr>
        <p:txBody>
          <a:bodyPr anchorCtr="0" anchor="t" bIns="45700" lIns="91425" spcFirstLastPara="1" rIns="91425" wrap="square" tIns="45700">
            <a:normAutofit/>
          </a:bodyPr>
          <a:lstStyle>
            <a:lvl1pPr indent="-361950" lvl="0" marL="457200" algn="l">
              <a:lnSpc>
                <a:spcPct val="90000"/>
              </a:lnSpc>
              <a:spcBef>
                <a:spcPts val="750"/>
              </a:spcBef>
              <a:spcAft>
                <a:spcPts val="0"/>
              </a:spcAft>
              <a:buClr>
                <a:schemeClr val="dk1"/>
              </a:buClr>
              <a:buSzPts val="2100"/>
              <a:buChar char="•"/>
              <a:defRPr>
                <a:latin typeface="Times New Roman"/>
                <a:ea typeface="Times New Roman"/>
                <a:cs typeface="Times New Roman"/>
                <a:sym typeface="Times New Roman"/>
              </a:defRPr>
            </a:lvl1pPr>
            <a:lvl2pPr indent="-342900" lvl="1" marL="914400" algn="l">
              <a:lnSpc>
                <a:spcPct val="90000"/>
              </a:lnSpc>
              <a:spcBef>
                <a:spcPts val="375"/>
              </a:spcBef>
              <a:spcAft>
                <a:spcPts val="0"/>
              </a:spcAft>
              <a:buClr>
                <a:schemeClr val="dk1"/>
              </a:buClr>
              <a:buSzPts val="1800"/>
              <a:buChar char="•"/>
              <a:defRPr>
                <a:latin typeface="Times New Roman"/>
                <a:ea typeface="Times New Roman"/>
                <a:cs typeface="Times New Roman"/>
                <a:sym typeface="Times New Roman"/>
              </a:defRPr>
            </a:lvl2pPr>
            <a:lvl3pPr indent="-323850" lvl="2" marL="1371600" algn="l">
              <a:lnSpc>
                <a:spcPct val="90000"/>
              </a:lnSpc>
              <a:spcBef>
                <a:spcPts val="375"/>
              </a:spcBef>
              <a:spcAft>
                <a:spcPts val="0"/>
              </a:spcAft>
              <a:buClr>
                <a:schemeClr val="dk1"/>
              </a:buClr>
              <a:buSzPts val="1500"/>
              <a:buChar char="•"/>
              <a:defRPr>
                <a:latin typeface="Times New Roman"/>
                <a:ea typeface="Times New Roman"/>
                <a:cs typeface="Times New Roman"/>
                <a:sym typeface="Times New Roman"/>
              </a:defRPr>
            </a:lvl3pPr>
            <a:lvl4pPr indent="-314325" lvl="3" marL="1828800" algn="l">
              <a:lnSpc>
                <a:spcPct val="90000"/>
              </a:lnSpc>
              <a:spcBef>
                <a:spcPts val="375"/>
              </a:spcBef>
              <a:spcAft>
                <a:spcPts val="0"/>
              </a:spcAft>
              <a:buClr>
                <a:schemeClr val="dk1"/>
              </a:buClr>
              <a:buSzPts val="1350"/>
              <a:buChar char="•"/>
              <a:defRPr>
                <a:latin typeface="Times New Roman"/>
                <a:ea typeface="Times New Roman"/>
                <a:cs typeface="Times New Roman"/>
                <a:sym typeface="Times New Roman"/>
              </a:defRPr>
            </a:lvl4pPr>
            <a:lvl5pPr indent="-314325" lvl="4" marL="2286000" algn="l">
              <a:lnSpc>
                <a:spcPct val="90000"/>
              </a:lnSpc>
              <a:spcBef>
                <a:spcPts val="375"/>
              </a:spcBef>
              <a:spcAft>
                <a:spcPts val="0"/>
              </a:spcAft>
              <a:buClr>
                <a:schemeClr val="dk1"/>
              </a:buClr>
              <a:buSzPts val="1350"/>
              <a:buChar char="•"/>
              <a:defRPr>
                <a:latin typeface="Times New Roman"/>
                <a:ea typeface="Times New Roman"/>
                <a:cs typeface="Times New Roman"/>
                <a:sym typeface="Times New Roman"/>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5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50"/>
          <p:cNvSpPr/>
          <p:nvPr/>
        </p:nvSpPr>
        <p:spPr>
          <a:xfrm>
            <a:off x="628650" y="6399391"/>
            <a:ext cx="7886700" cy="45719"/>
          </a:xfrm>
          <a:prstGeom prst="rect">
            <a:avLst/>
          </a:prstGeom>
          <a:solidFill>
            <a:schemeClr val="accent3">
              <a:alpha val="4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
        <p:nvSpPr>
          <p:cNvPr id="41" name="Google Shape;41;p50"/>
          <p:cNvSpPr/>
          <p:nvPr/>
        </p:nvSpPr>
        <p:spPr>
          <a:xfrm>
            <a:off x="628650" y="1250395"/>
            <a:ext cx="7886700" cy="45719"/>
          </a:xfrm>
          <a:prstGeom prst="rect">
            <a:avLst/>
          </a:prstGeom>
          <a:solidFill>
            <a:schemeClr val="accent3">
              <a:alpha val="4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1"/>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51"/>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5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pic>
        <p:nvPicPr>
          <p:cNvPr id="49" name="Google Shape;49;p51"/>
          <p:cNvPicPr preferRelativeResize="0"/>
          <p:nvPr/>
        </p:nvPicPr>
        <p:blipFill rotWithShape="1">
          <a:blip r:embed="rId2">
            <a:alphaModFix/>
          </a:blip>
          <a:srcRect b="0" l="0" r="0" t="0"/>
          <a:stretch/>
        </p:blipFill>
        <p:spPr>
          <a:xfrm>
            <a:off x="-67236" y="0"/>
            <a:ext cx="9278471" cy="685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52"/>
          <p:cNvSpPr txBox="1"/>
          <p:nvPr>
            <p:ph type="title"/>
          </p:nvPr>
        </p:nvSpPr>
        <p:spPr>
          <a:xfrm>
            <a:off x="629841"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2"/>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3" name="Google Shape;53;p52"/>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 name="Google Shape;54;p52"/>
          <p:cNvSpPr txBox="1"/>
          <p:nvPr>
            <p:ph idx="3" type="body"/>
          </p:nvPr>
        </p:nvSpPr>
        <p:spPr>
          <a:xfrm>
            <a:off x="4629151"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5" name="Google Shape;55;p52"/>
          <p:cNvSpPr txBox="1"/>
          <p:nvPr>
            <p:ph idx="4" type="body"/>
          </p:nvPr>
        </p:nvSpPr>
        <p:spPr>
          <a:xfrm>
            <a:off x="4629151"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5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pic>
        <p:nvPicPr>
          <p:cNvPr id="59" name="Google Shape;59;p52"/>
          <p:cNvPicPr preferRelativeResize="0"/>
          <p:nvPr/>
        </p:nvPicPr>
        <p:blipFill rotWithShape="1">
          <a:blip r:embed="rId2">
            <a:alphaModFix/>
          </a:blip>
          <a:srcRect b="0" l="0" r="0" t="0"/>
          <a:stretch/>
        </p:blipFill>
        <p:spPr>
          <a:xfrm>
            <a:off x="-67236" y="0"/>
            <a:ext cx="9278471" cy="6858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5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53"/>
          <p:cNvPicPr preferRelativeResize="0"/>
          <p:nvPr/>
        </p:nvPicPr>
        <p:blipFill rotWithShape="1">
          <a:blip r:embed="rId2">
            <a:alphaModFix/>
          </a:blip>
          <a:srcRect b="0" l="0" r="0" t="0"/>
          <a:stretch/>
        </p:blipFill>
        <p:spPr>
          <a:xfrm>
            <a:off x="-67236" y="0"/>
            <a:ext cx="9278471" cy="68580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5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5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eorgia"/>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5"/>
          <p:cNvSpPr txBox="1"/>
          <p:nvPr>
            <p:ph idx="1" type="body"/>
          </p:nvPr>
        </p:nvSpPr>
        <p:spPr>
          <a:xfrm>
            <a:off x="3887391" y="987428"/>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73" name="Google Shape;73;p55"/>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4" name="Google Shape;74;p5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pic>
        <p:nvPicPr>
          <p:cNvPr id="77" name="Google Shape;77;p55"/>
          <p:cNvPicPr preferRelativeResize="0"/>
          <p:nvPr/>
        </p:nvPicPr>
        <p:blipFill rotWithShape="1">
          <a:blip r:embed="rId2">
            <a:alphaModFix/>
          </a:blip>
          <a:srcRect b="0" l="0" r="0" t="0"/>
          <a:stretch/>
        </p:blipFill>
        <p:spPr>
          <a:xfrm>
            <a:off x="-67236" y="0"/>
            <a:ext cx="9278471" cy="6858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56"/>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eorgia"/>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6"/>
          <p:cNvSpPr/>
          <p:nvPr>
            <p:ph idx="2" type="pic"/>
          </p:nvPr>
        </p:nvSpPr>
        <p:spPr>
          <a:xfrm>
            <a:off x="3887391" y="987428"/>
            <a:ext cx="4629150" cy="4873625"/>
          </a:xfrm>
          <a:prstGeom prst="rect">
            <a:avLst/>
          </a:prstGeom>
          <a:noFill/>
          <a:ln>
            <a:noFill/>
          </a:ln>
        </p:spPr>
      </p:sp>
      <p:sp>
        <p:nvSpPr>
          <p:cNvPr id="81" name="Google Shape;81;p56"/>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82" name="Google Shape;82;p56"/>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6"/>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56"/>
          <p:cNvPicPr preferRelativeResize="0"/>
          <p:nvPr/>
        </p:nvPicPr>
        <p:blipFill rotWithShape="1">
          <a:blip r:embed="rId2">
            <a:alphaModFix/>
          </a:blip>
          <a:srcRect b="0" l="0" r="0" t="0"/>
          <a:stretch/>
        </p:blipFill>
        <p:spPr>
          <a:xfrm>
            <a:off x="-67236" y="0"/>
            <a:ext cx="9278471" cy="6858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5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7"/>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9" name="Google Shape;89;p5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58"/>
          <p:cNvSpPr txBox="1"/>
          <p:nvPr>
            <p:ph type="title"/>
          </p:nvPr>
        </p:nvSpPr>
        <p:spPr>
          <a:xfrm rot="5400000">
            <a:off x="4623595"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58"/>
          <p:cNvSpPr txBox="1"/>
          <p:nvPr>
            <p:ph idx="1" type="body"/>
          </p:nvPr>
        </p:nvSpPr>
        <p:spPr>
          <a:xfrm rot="5400000">
            <a:off x="623095"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5" name="Google Shape;95;p5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ilat_content">
  <p:cSld name="gilat_content">
    <p:spTree>
      <p:nvGrpSpPr>
        <p:cNvPr id="98" name="Shape 98"/>
        <p:cNvGrpSpPr/>
        <p:nvPr/>
      </p:nvGrpSpPr>
      <p:grpSpPr>
        <a:xfrm>
          <a:off x="0" y="0"/>
          <a:ext cx="0" cy="0"/>
          <a:chOff x="0" y="0"/>
          <a:chExt cx="0" cy="0"/>
        </a:xfrm>
      </p:grpSpPr>
      <p:sp>
        <p:nvSpPr>
          <p:cNvPr id="99" name="Google Shape;99;p59"/>
          <p:cNvSpPr txBox="1"/>
          <p:nvPr>
            <p:ph idx="1" type="body"/>
          </p:nvPr>
        </p:nvSpPr>
        <p:spPr>
          <a:xfrm>
            <a:off x="76202" y="76201"/>
            <a:ext cx="367088" cy="286232"/>
          </a:xfrm>
          <a:prstGeom prst="rect">
            <a:avLst/>
          </a:prstGeom>
          <a:noFill/>
          <a:ln>
            <a:noFill/>
          </a:ln>
        </p:spPr>
        <p:txBody>
          <a:bodyPr anchorCtr="0" anchor="t" bIns="45700" lIns="0" spcFirstLastPara="1" rIns="0" wrap="square" tIns="45700">
            <a:spAutoFit/>
          </a:bodyPr>
          <a:lstStyle>
            <a:lvl1pPr indent="-228600" lvl="0" marL="457200" algn="l">
              <a:lnSpc>
                <a:spcPct val="90000"/>
              </a:lnSpc>
              <a:spcBef>
                <a:spcPts val="750"/>
              </a:spcBef>
              <a:spcAft>
                <a:spcPts val="0"/>
              </a:spcAft>
              <a:buClr>
                <a:schemeClr val="dk1"/>
              </a:buClr>
              <a:buSzPts val="1400"/>
              <a:buFont typeface="Arial"/>
              <a:buNone/>
              <a:defRPr sz="1400"/>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0" name="Google Shape;100;p59"/>
          <p:cNvSpPr txBox="1"/>
          <p:nvPr>
            <p:ph idx="2" type="body"/>
          </p:nvPr>
        </p:nvSpPr>
        <p:spPr>
          <a:xfrm>
            <a:off x="800100" y="914400"/>
            <a:ext cx="7543800" cy="5029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1" name="Google Shape;101;p5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5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9"/>
          <p:cNvSpPr txBox="1"/>
          <p:nvPr>
            <p:ph idx="12" type="sldNum"/>
          </p:nvPr>
        </p:nvSpPr>
        <p:spPr>
          <a:xfrm>
            <a:off x="8663940" y="6601968"/>
            <a:ext cx="480060" cy="237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Georgia"/>
              <a:buNone/>
              <a:defRPr b="0" i="0" sz="33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Georgia"/>
                <a:ea typeface="Georgia"/>
                <a:cs typeface="Georgia"/>
                <a:sym typeface="Georgi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Georgia"/>
                <a:ea typeface="Georgia"/>
                <a:cs typeface="Georgia"/>
                <a:sym typeface="Georgia"/>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Georgia"/>
                <a:ea typeface="Georgia"/>
                <a:cs typeface="Georgia"/>
                <a:sym typeface="Georgia"/>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Georgia"/>
                <a:ea typeface="Georgia"/>
                <a:cs typeface="Georgia"/>
                <a:sym typeface="Georgi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Georgia"/>
                <a:ea typeface="Georgia"/>
                <a:cs typeface="Georgia"/>
                <a:sym typeface="Georgi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Georgia"/>
                <a:ea typeface="Georgia"/>
                <a:cs typeface="Georgia"/>
                <a:sym typeface="Georgi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Georgia"/>
                <a:ea typeface="Georgia"/>
                <a:cs typeface="Georgia"/>
                <a:sym typeface="Georgi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Georgia"/>
                <a:ea typeface="Georgia"/>
                <a:cs typeface="Georgia"/>
                <a:sym typeface="Georgia"/>
              </a:defRPr>
            </a:lvl9pPr>
          </a:lstStyle>
          <a:p/>
        </p:txBody>
      </p:sp>
      <p:sp>
        <p:nvSpPr>
          <p:cNvPr id="12" name="Google Shape;12;p4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9pPr>
          </a:lstStyle>
          <a:p/>
        </p:txBody>
      </p:sp>
      <p:sp>
        <p:nvSpPr>
          <p:cNvPr id="13" name="Google Shape;13;p4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9pPr>
          </a:lstStyle>
          <a:p/>
        </p:txBody>
      </p:sp>
      <p:sp>
        <p:nvSpPr>
          <p:cNvPr id="14" name="Google Shape;14;p4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hyperlink" Target="https://www.swiftask.ai/blog/what-is-an-ll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hyperlink" Target="https://imgflip.com/i/82cixh" TargetMode="External"/><Relationship Id="rId5" Type="http://schemas.openxmlformats.org/officeDocument/2006/relationships/hyperlink" Target="https://imgflip.com/i/82cixh"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www.swiftask.ai/blog/what-is-an-ll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hyperlink" Target="https://good-prompt-vs-bad-prompt-why-it-matter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hyperlink" Target="https://arxiv.org/abs/2201.1190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hyperlink" Target="https://arxiv.org/abs/2203.1117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hyperlink" Target="https://arxiv.org/abs/2210.0362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2cb8f632ca_0_3"/>
          <p:cNvSpPr txBox="1"/>
          <p:nvPr>
            <p:ph type="ctrTitle"/>
          </p:nvPr>
        </p:nvSpPr>
        <p:spPr>
          <a:xfrm>
            <a:off x="685800" y="1637537"/>
            <a:ext cx="7848600" cy="1537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Georgia"/>
              <a:buNone/>
            </a:pPr>
            <a:r>
              <a:rPr i="1" lang="en-US" sz="4400"/>
              <a:t>EET 4501</a:t>
            </a:r>
            <a:br>
              <a:rPr i="1" lang="en-US" sz="4400"/>
            </a:br>
            <a:br>
              <a:rPr i="1" lang="en-US" sz="4400"/>
            </a:br>
            <a:r>
              <a:rPr b="1" i="1" lang="en-US" sz="4400"/>
              <a:t>Prompt Engineering Techniques</a:t>
            </a:r>
            <a:endParaRPr i="1" sz="4400"/>
          </a:p>
        </p:txBody>
      </p:sp>
      <p:sp>
        <p:nvSpPr>
          <p:cNvPr id="109" name="Google Shape;109;g32cb8f632ca_0_3"/>
          <p:cNvSpPr txBox="1"/>
          <p:nvPr/>
        </p:nvSpPr>
        <p:spPr>
          <a:xfrm>
            <a:off x="914400" y="3352800"/>
            <a:ext cx="7386000" cy="24081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750"/>
              </a:spcBef>
              <a:spcAft>
                <a:spcPts val="0"/>
              </a:spcAft>
              <a:buClr>
                <a:srgbClr val="000000"/>
              </a:buClr>
              <a:buSzPts val="1800"/>
              <a:buFont typeface="Arial"/>
              <a:buNone/>
            </a:pPr>
            <a:r>
              <a:rPr b="0" i="0" lang="en-US" sz="1800" u="none" cap="none" strike="noStrike">
                <a:solidFill>
                  <a:srgbClr val="000000"/>
                </a:solidFill>
                <a:latin typeface="Georgia"/>
                <a:ea typeface="Georgia"/>
                <a:cs typeface="Georgia"/>
                <a:sym typeface="Georgia"/>
              </a:rPr>
              <a:t>Spring 2026</a:t>
            </a:r>
            <a:endParaRPr b="0" i="0" sz="1800" u="none" cap="none" strike="noStrike">
              <a:solidFill>
                <a:srgbClr val="000000"/>
              </a:solidFill>
              <a:latin typeface="Georgia"/>
              <a:ea typeface="Georgia"/>
              <a:cs typeface="Georgia"/>
              <a:sym typeface="Georgia"/>
            </a:endParaRPr>
          </a:p>
          <a:p>
            <a:pPr indent="0" lvl="0" marL="0" marR="0" rtl="0" algn="ctr">
              <a:lnSpc>
                <a:spcPct val="90000"/>
              </a:lnSpc>
              <a:spcBef>
                <a:spcPts val="750"/>
              </a:spcBef>
              <a:spcAft>
                <a:spcPts val="0"/>
              </a:spcAft>
              <a:buClr>
                <a:srgbClr val="000000"/>
              </a:buClr>
              <a:buSzPts val="1800"/>
              <a:buFont typeface="Arial"/>
              <a:buNone/>
            </a:pPr>
            <a:r>
              <a:t/>
            </a:r>
            <a:endParaRPr b="0" i="0" sz="1800" u="none" cap="none" strike="noStrike">
              <a:solidFill>
                <a:srgbClr val="000000"/>
              </a:solidFill>
              <a:latin typeface="Georgia"/>
              <a:ea typeface="Georgia"/>
              <a:cs typeface="Georgia"/>
              <a:sym typeface="Georgia"/>
            </a:endParaRPr>
          </a:p>
          <a:p>
            <a:pPr indent="0" lvl="0" marL="0" marR="0" rtl="0" algn="ctr">
              <a:lnSpc>
                <a:spcPct val="90000"/>
              </a:lnSpc>
              <a:spcBef>
                <a:spcPts val="750"/>
              </a:spcBef>
              <a:spcAft>
                <a:spcPts val="0"/>
              </a:spcAft>
              <a:buClr>
                <a:srgbClr val="000000"/>
              </a:buClr>
              <a:buSzPts val="1800"/>
              <a:buFont typeface="Arial"/>
              <a:buNone/>
            </a:pPr>
            <a:r>
              <a:rPr lang="en-US" sz="1800">
                <a:latin typeface="Georgia"/>
                <a:ea typeface="Georgia"/>
                <a:cs typeface="Georgia"/>
                <a:sym typeface="Georgia"/>
              </a:rPr>
              <a:t>Manoj Kumal, PhD student</a:t>
            </a:r>
            <a:endParaRPr b="0" i="0" sz="1800" u="none" cap="none" strike="noStrike">
              <a:solidFill>
                <a:srgbClr val="000000"/>
              </a:solidFill>
              <a:latin typeface="Georgia"/>
              <a:ea typeface="Georgia"/>
              <a:cs typeface="Georgia"/>
              <a:sym typeface="Georgia"/>
            </a:endParaRPr>
          </a:p>
          <a:p>
            <a:pPr indent="0" lvl="0" marL="0" marR="0" rtl="0" algn="ctr">
              <a:lnSpc>
                <a:spcPct val="90000"/>
              </a:lnSpc>
              <a:spcBef>
                <a:spcPts val="750"/>
              </a:spcBef>
              <a:spcAft>
                <a:spcPts val="0"/>
              </a:spcAft>
              <a:buClr>
                <a:srgbClr val="000000"/>
              </a:buClr>
              <a:buSzPts val="1800"/>
              <a:buFont typeface="Arial"/>
              <a:buNone/>
            </a:pPr>
            <a:r>
              <a:rPr b="0" i="1" lang="en-US" sz="1800" u="none" cap="none" strike="noStrike">
                <a:solidFill>
                  <a:srgbClr val="000000"/>
                </a:solidFill>
                <a:latin typeface="Georgia"/>
                <a:ea typeface="Georgia"/>
                <a:cs typeface="Georgia"/>
                <a:sym typeface="Georgia"/>
              </a:rPr>
              <a:t>Dept. of Applied Computing</a:t>
            </a:r>
            <a:endParaRPr b="0" i="0" sz="1800" u="none" cap="none" strike="noStrike">
              <a:solidFill>
                <a:srgbClr val="000000"/>
              </a:solidFill>
              <a:latin typeface="Georgia"/>
              <a:ea typeface="Georgia"/>
              <a:cs typeface="Georgia"/>
              <a:sym typeface="Georgia"/>
            </a:endParaRPr>
          </a:p>
          <a:p>
            <a:pPr indent="0" lvl="0" marL="0" marR="0" rtl="0" algn="ctr">
              <a:lnSpc>
                <a:spcPct val="90000"/>
              </a:lnSpc>
              <a:spcBef>
                <a:spcPts val="750"/>
              </a:spcBef>
              <a:spcAft>
                <a:spcPts val="0"/>
              </a:spcAft>
              <a:buClr>
                <a:srgbClr val="000000"/>
              </a:buClr>
              <a:buSzPts val="1800"/>
              <a:buFont typeface="Arial"/>
              <a:buNone/>
            </a:pPr>
            <a:r>
              <a:rPr b="0" i="1" lang="en-US" sz="1800" u="none" cap="none" strike="noStrike">
                <a:solidFill>
                  <a:srgbClr val="000000"/>
                </a:solidFill>
                <a:latin typeface="Georgia"/>
                <a:ea typeface="Georgia"/>
                <a:cs typeface="Georgia"/>
                <a:sym typeface="Georgia"/>
              </a:rPr>
              <a:t>Michigan Tech</a:t>
            </a:r>
            <a:endParaRPr b="0" i="0" sz="1800" u="none" cap="none" strike="noStrike">
              <a:solidFill>
                <a:srgbClr val="000000"/>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2cd9e9c10f_0_0"/>
          <p:cNvSpPr txBox="1"/>
          <p:nvPr>
            <p:ph type="title"/>
          </p:nvPr>
        </p:nvSpPr>
        <p:spPr>
          <a:xfrm>
            <a:off x="407825" y="585233"/>
            <a:ext cx="7717500" cy="8949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333"/>
              <a:buNone/>
            </a:pPr>
            <a:r>
              <a:rPr lang="en-US">
                <a:solidFill>
                  <a:schemeClr val="accent5"/>
                </a:solidFill>
              </a:rPr>
              <a:t>Agenda</a:t>
            </a:r>
            <a:endParaRPr>
              <a:solidFill>
                <a:schemeClr val="accent5"/>
              </a:solidFill>
            </a:endParaRPr>
          </a:p>
        </p:txBody>
      </p:sp>
      <p:sp>
        <p:nvSpPr>
          <p:cNvPr id="115" name="Google Shape;115;g32cd9e9c10f_0_0"/>
          <p:cNvSpPr txBox="1"/>
          <p:nvPr>
            <p:ph idx="1" type="body"/>
          </p:nvPr>
        </p:nvSpPr>
        <p:spPr>
          <a:xfrm>
            <a:off x="407825" y="1847575"/>
            <a:ext cx="8255700" cy="48165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800"/>
              <a:buNone/>
            </a:pPr>
            <a:r>
              <a:t/>
            </a:r>
            <a:endParaRPr b="0" sz="2200"/>
          </a:p>
          <a:p>
            <a:pPr indent="0" lvl="0" marL="457200" rtl="0" algn="l">
              <a:lnSpc>
                <a:spcPct val="90000"/>
              </a:lnSpc>
              <a:spcBef>
                <a:spcPts val="0"/>
              </a:spcBef>
              <a:spcAft>
                <a:spcPts val="0"/>
              </a:spcAft>
              <a:buSzPts val="1800"/>
              <a:buNone/>
            </a:pPr>
            <a:r>
              <a:t/>
            </a:r>
            <a:endParaRPr b="0" sz="2200"/>
          </a:p>
          <a:p>
            <a:pPr indent="-368300" lvl="0" marL="457200" rtl="0" algn="l">
              <a:lnSpc>
                <a:spcPct val="90000"/>
              </a:lnSpc>
              <a:spcBef>
                <a:spcPts val="0"/>
              </a:spcBef>
              <a:spcAft>
                <a:spcPts val="0"/>
              </a:spcAft>
              <a:buSzPts val="2200"/>
              <a:buChar char="❏"/>
            </a:pPr>
            <a:r>
              <a:rPr b="0" lang="en-US" sz="2200"/>
              <a:t>LLM</a:t>
            </a:r>
            <a:endParaRPr b="0" sz="2200"/>
          </a:p>
          <a:p>
            <a:pPr indent="0" lvl="0" marL="0" rtl="0" algn="l">
              <a:lnSpc>
                <a:spcPct val="90000"/>
              </a:lnSpc>
              <a:spcBef>
                <a:spcPts val="0"/>
              </a:spcBef>
              <a:spcAft>
                <a:spcPts val="0"/>
              </a:spcAft>
              <a:buSzPts val="2118"/>
              <a:buNone/>
            </a:pPr>
            <a:r>
              <a:t/>
            </a:r>
            <a:endParaRPr sz="2200">
              <a:solidFill>
                <a:srgbClr val="000000"/>
              </a:solidFill>
            </a:endParaRPr>
          </a:p>
          <a:p>
            <a:pPr indent="-368300" lvl="0" marL="457200" rtl="0" algn="l">
              <a:lnSpc>
                <a:spcPct val="90000"/>
              </a:lnSpc>
              <a:spcBef>
                <a:spcPts val="0"/>
              </a:spcBef>
              <a:spcAft>
                <a:spcPts val="0"/>
              </a:spcAft>
              <a:buClr>
                <a:srgbClr val="000000"/>
              </a:buClr>
              <a:buSzPts val="2200"/>
              <a:buChar char="❏"/>
            </a:pPr>
            <a:r>
              <a:rPr lang="en-US" sz="2200">
                <a:solidFill>
                  <a:srgbClr val="000000"/>
                </a:solidFill>
              </a:rPr>
              <a:t>Why P</a:t>
            </a:r>
            <a:r>
              <a:rPr lang="en-US" sz="2200">
                <a:solidFill>
                  <a:srgbClr val="000000"/>
                </a:solidFill>
              </a:rPr>
              <a:t>rompting</a:t>
            </a:r>
            <a:endParaRPr sz="2200">
              <a:solidFill>
                <a:srgbClr val="000000"/>
              </a:solidFill>
            </a:endParaRPr>
          </a:p>
          <a:p>
            <a:pPr indent="-368300" lvl="0" marL="457200" rtl="0" algn="l">
              <a:lnSpc>
                <a:spcPct val="90000"/>
              </a:lnSpc>
              <a:spcBef>
                <a:spcPts val="0"/>
              </a:spcBef>
              <a:spcAft>
                <a:spcPts val="0"/>
              </a:spcAft>
              <a:buClr>
                <a:srgbClr val="000000"/>
              </a:buClr>
              <a:buSzPts val="2200"/>
              <a:buChar char="❏"/>
            </a:pPr>
            <a:r>
              <a:rPr lang="en-US" sz="2200">
                <a:solidFill>
                  <a:srgbClr val="000000"/>
                </a:solidFill>
              </a:rPr>
              <a:t>Prompt</a:t>
            </a:r>
            <a:endParaRPr sz="2200">
              <a:solidFill>
                <a:srgbClr val="000000"/>
              </a:solidFill>
            </a:endParaRPr>
          </a:p>
          <a:p>
            <a:pPr indent="-368300" lvl="0" marL="457200" rtl="0" algn="l">
              <a:lnSpc>
                <a:spcPct val="90000"/>
              </a:lnSpc>
              <a:spcBef>
                <a:spcPts val="0"/>
              </a:spcBef>
              <a:spcAft>
                <a:spcPts val="0"/>
              </a:spcAft>
              <a:buSzPts val="2200"/>
              <a:buChar char="❏"/>
            </a:pPr>
            <a:r>
              <a:rPr lang="en-US" sz="2200"/>
              <a:t>P</a:t>
            </a:r>
            <a:r>
              <a:rPr lang="en-US" sz="2200"/>
              <a:t>rompting Techniques</a:t>
            </a:r>
            <a:endParaRPr sz="2200"/>
          </a:p>
          <a:p>
            <a:pPr indent="0" lvl="0" marL="457200" rtl="0" algn="l">
              <a:lnSpc>
                <a:spcPct val="90000"/>
              </a:lnSpc>
              <a:spcBef>
                <a:spcPts val="0"/>
              </a:spcBef>
              <a:spcAft>
                <a:spcPts val="0"/>
              </a:spcAft>
              <a:buNone/>
            </a:pPr>
            <a:r>
              <a:t/>
            </a:r>
            <a:endParaRPr sz="2200">
              <a:solidFill>
                <a:srgbClr val="000000"/>
              </a:solidFill>
            </a:endParaRPr>
          </a:p>
        </p:txBody>
      </p:sp>
      <p:sp>
        <p:nvSpPr>
          <p:cNvPr id="116" name="Google Shape;116;g32cd9e9c10f_0_0"/>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solidFill>
                  <a:schemeClr val="dk1"/>
                </a:solidFill>
                <a:latin typeface="Roboto"/>
                <a:ea typeface="Roboto"/>
                <a:cs typeface="Roboto"/>
                <a:sym typeface="Roboto"/>
              </a:rPr>
              <a:t>‹#›</a:t>
            </a:fld>
            <a:endParaRPr>
              <a:solidFill>
                <a:schemeClr val="dk1"/>
              </a:solidFill>
              <a:latin typeface="Roboto"/>
              <a:ea typeface="Roboto"/>
              <a:cs typeface="Roboto"/>
              <a:sym typeface="Roboto"/>
            </a:endParaRPr>
          </a:p>
        </p:txBody>
      </p:sp>
      <p:pic>
        <p:nvPicPr>
          <p:cNvPr id="117" name="Google Shape;117;g32cd9e9c10f_0_0"/>
          <p:cNvPicPr preferRelativeResize="0"/>
          <p:nvPr/>
        </p:nvPicPr>
        <p:blipFill rotWithShape="1">
          <a:blip r:embed="rId3">
            <a:alphaModFix/>
          </a:blip>
          <a:srcRect b="0" l="1351" r="0" t="0"/>
          <a:stretch/>
        </p:blipFill>
        <p:spPr>
          <a:xfrm>
            <a:off x="100800" y="0"/>
            <a:ext cx="490850" cy="616650"/>
          </a:xfrm>
          <a:prstGeom prst="rect">
            <a:avLst/>
          </a:prstGeom>
          <a:noFill/>
          <a:ln>
            <a:noFill/>
          </a:ln>
        </p:spPr>
      </p:pic>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628650" y="2002649"/>
            <a:ext cx="7886700" cy="2852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Georgia"/>
              <a:buNone/>
            </a:pPr>
            <a:r>
              <a:rPr lang="en-US"/>
              <a:t>Large Language Model(LLM)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b7995af863_0_20"/>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How AI understand text?</a:t>
            </a:r>
            <a:endParaRPr/>
          </a:p>
        </p:txBody>
      </p:sp>
      <p:pic>
        <p:nvPicPr>
          <p:cNvPr id="129" name="Google Shape;129;g3b7995af863_0_20"/>
          <p:cNvPicPr preferRelativeResize="0"/>
          <p:nvPr/>
        </p:nvPicPr>
        <p:blipFill>
          <a:blip r:embed="rId3">
            <a:alphaModFix/>
          </a:blip>
          <a:stretch>
            <a:fillRect/>
          </a:stretch>
        </p:blipFill>
        <p:spPr>
          <a:xfrm>
            <a:off x="628650" y="1453075"/>
            <a:ext cx="7888074" cy="4273950"/>
          </a:xfrm>
          <a:prstGeom prst="rect">
            <a:avLst/>
          </a:prstGeom>
          <a:noFill/>
          <a:ln>
            <a:noFill/>
          </a:ln>
        </p:spPr>
      </p:pic>
      <p:sp>
        <p:nvSpPr>
          <p:cNvPr id="130" name="Google Shape;130;g3b7995af863_0_20"/>
          <p:cNvSpPr txBox="1"/>
          <p:nvPr/>
        </p:nvSpPr>
        <p:spPr>
          <a:xfrm>
            <a:off x="628650" y="5896975"/>
            <a:ext cx="67644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u="sng">
                <a:solidFill>
                  <a:schemeClr val="hlink"/>
                </a:solidFill>
                <a:latin typeface="Georgia"/>
                <a:ea typeface="Georgia"/>
                <a:cs typeface="Georgia"/>
                <a:sym typeface="Georgia"/>
                <a:hlinkClick r:id="rId4"/>
              </a:rPr>
              <a:t>source: https://www.swiftask.ai/blog/what-is-an-llm</a:t>
            </a:r>
            <a:endParaRPr sz="1600">
              <a:solidFill>
                <a:schemeClr val="dk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ph type="title"/>
          </p:nvPr>
        </p:nvSpPr>
        <p:spPr>
          <a:xfrm>
            <a:off x="628650" y="10901"/>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What is </a:t>
            </a:r>
            <a:r>
              <a:rPr lang="en-US"/>
              <a:t>exactly</a:t>
            </a:r>
            <a:r>
              <a:rPr lang="en-US"/>
              <a:t> LLM?</a:t>
            </a:r>
            <a:endParaRPr/>
          </a:p>
        </p:txBody>
      </p:sp>
      <p:sp>
        <p:nvSpPr>
          <p:cNvPr id="136" name="Google Shape;136;p3"/>
          <p:cNvSpPr txBox="1"/>
          <p:nvPr>
            <p:ph idx="1" type="body"/>
          </p:nvPr>
        </p:nvSpPr>
        <p:spPr>
          <a:xfrm>
            <a:off x="628650" y="1379502"/>
            <a:ext cx="7886700" cy="4669439"/>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750"/>
              </a:spcBef>
              <a:spcAft>
                <a:spcPts val="0"/>
              </a:spcAft>
              <a:buClr>
                <a:schemeClr val="dk1"/>
              </a:buClr>
              <a:buSzPts val="2100"/>
              <a:buNone/>
            </a:pPr>
            <a:r>
              <a:t/>
            </a:r>
            <a:endParaRPr/>
          </a:p>
        </p:txBody>
      </p:sp>
      <p:pic>
        <p:nvPicPr>
          <p:cNvPr id="137" name="Google Shape;137;p3"/>
          <p:cNvPicPr preferRelativeResize="0"/>
          <p:nvPr/>
        </p:nvPicPr>
        <p:blipFill>
          <a:blip r:embed="rId3">
            <a:alphaModFix/>
          </a:blip>
          <a:stretch>
            <a:fillRect/>
          </a:stretch>
        </p:blipFill>
        <p:spPr>
          <a:xfrm>
            <a:off x="628650" y="1379500"/>
            <a:ext cx="7886701" cy="4454475"/>
          </a:xfrm>
          <a:prstGeom prst="rect">
            <a:avLst/>
          </a:prstGeom>
          <a:noFill/>
          <a:ln>
            <a:noFill/>
          </a:ln>
        </p:spPr>
      </p:pic>
      <p:sp>
        <p:nvSpPr>
          <p:cNvPr id="138" name="Google Shape;138;p3"/>
          <p:cNvSpPr txBox="1"/>
          <p:nvPr/>
        </p:nvSpPr>
        <p:spPr>
          <a:xfrm>
            <a:off x="628650" y="5985000"/>
            <a:ext cx="410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source: </a:t>
            </a:r>
            <a:r>
              <a:rPr lang="en-US" u="sng">
                <a:solidFill>
                  <a:schemeClr val="hlink"/>
                </a:solidFill>
                <a:hlinkClick r:id="rId5"/>
              </a:rPr>
              <a:t>https://imgflip.com/i/82cixh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b7995af863_0_27"/>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How a large language model works?</a:t>
            </a:r>
            <a:endParaRPr/>
          </a:p>
        </p:txBody>
      </p:sp>
      <p:pic>
        <p:nvPicPr>
          <p:cNvPr id="144" name="Google Shape;144;g3b7995af863_0_27"/>
          <p:cNvPicPr preferRelativeResize="0"/>
          <p:nvPr/>
        </p:nvPicPr>
        <p:blipFill>
          <a:blip r:embed="rId3">
            <a:alphaModFix/>
          </a:blip>
          <a:stretch>
            <a:fillRect/>
          </a:stretch>
        </p:blipFill>
        <p:spPr>
          <a:xfrm>
            <a:off x="628650" y="1379500"/>
            <a:ext cx="7886700" cy="4441075"/>
          </a:xfrm>
          <a:prstGeom prst="rect">
            <a:avLst/>
          </a:prstGeom>
          <a:noFill/>
          <a:ln>
            <a:noFill/>
          </a:ln>
        </p:spPr>
      </p:pic>
      <p:sp>
        <p:nvSpPr>
          <p:cNvPr id="145" name="Google Shape;145;g3b7995af863_0_27"/>
          <p:cNvSpPr txBox="1"/>
          <p:nvPr/>
        </p:nvSpPr>
        <p:spPr>
          <a:xfrm>
            <a:off x="628650" y="5896975"/>
            <a:ext cx="67644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u="sng">
                <a:solidFill>
                  <a:schemeClr val="hlink"/>
                </a:solidFill>
                <a:latin typeface="Georgia"/>
                <a:ea typeface="Georgia"/>
                <a:cs typeface="Georgia"/>
                <a:sym typeface="Georgia"/>
                <a:hlinkClick r:id="rId4"/>
              </a:rPr>
              <a:t>source: https://www.swiftask.ai/blog/what-is-an-llm</a:t>
            </a:r>
            <a:endParaRPr sz="1600">
              <a:solidFill>
                <a:schemeClr val="dk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b7995af863_0_52"/>
          <p:cNvSpPr txBox="1"/>
          <p:nvPr>
            <p:ph type="title"/>
          </p:nvPr>
        </p:nvSpPr>
        <p:spPr>
          <a:xfrm>
            <a:off x="628650" y="2002649"/>
            <a:ext cx="7886700" cy="2852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Georgia"/>
              <a:buNone/>
            </a:pPr>
            <a:r>
              <a:rPr lang="en-US"/>
              <a:t>Why Prompting Matters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b7995af863_0_57"/>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Simple Prompts</a:t>
            </a:r>
            <a:endParaRPr/>
          </a:p>
        </p:txBody>
      </p:sp>
      <p:sp>
        <p:nvSpPr>
          <p:cNvPr id="157" name="Google Shape;157;g3b7995af863_0_57"/>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750"/>
              </a:spcBef>
              <a:spcAft>
                <a:spcPts val="0"/>
              </a:spcAft>
              <a:buSzPts val="2100"/>
              <a:buNone/>
            </a:pPr>
            <a:r>
              <a:t/>
            </a:r>
            <a:endParaRPr/>
          </a:p>
        </p:txBody>
      </p:sp>
      <p:pic>
        <p:nvPicPr>
          <p:cNvPr id="158" name="Google Shape;158;g3b7995af863_0_57"/>
          <p:cNvPicPr preferRelativeResize="0"/>
          <p:nvPr/>
        </p:nvPicPr>
        <p:blipFill>
          <a:blip r:embed="rId3">
            <a:alphaModFix/>
          </a:blip>
          <a:stretch>
            <a:fillRect/>
          </a:stretch>
        </p:blipFill>
        <p:spPr>
          <a:xfrm>
            <a:off x="628650" y="1379500"/>
            <a:ext cx="7886700" cy="4669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b7995af863_0_169"/>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Why Prompting Matters?</a:t>
            </a:r>
            <a:endParaRPr/>
          </a:p>
        </p:txBody>
      </p:sp>
      <p:sp>
        <p:nvSpPr>
          <p:cNvPr id="164" name="Google Shape;164;g3b7995af863_0_169"/>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a:bodyPr>
          <a:lstStyle/>
          <a:p>
            <a:pPr indent="-361950" lvl="0" marL="457200" rtl="0" algn="l">
              <a:spcBef>
                <a:spcPts val="750"/>
              </a:spcBef>
              <a:spcAft>
                <a:spcPts val="0"/>
              </a:spcAft>
              <a:buSzPts val="2100"/>
              <a:buFont typeface="Arial"/>
              <a:buChar char="•"/>
            </a:pPr>
            <a:r>
              <a:rPr lang="en-US">
                <a:latin typeface="Arial"/>
                <a:ea typeface="Arial"/>
                <a:cs typeface="Arial"/>
                <a:sym typeface="Arial"/>
              </a:rPr>
              <a:t>It determines the quality of the AI’s output.</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saves time and effort by reducing the need for repeated questions.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reduces incorrect or irrelevant answers.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helps the AI better understand and match the user’s intent.</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Char char="•"/>
            </a:pPr>
            <a:r>
              <a:rPr lang="en-US">
                <a:latin typeface="Arial"/>
                <a:ea typeface="Arial"/>
                <a:cs typeface="Arial"/>
                <a:sym typeface="Arial"/>
              </a:rPr>
              <a:t>It ensures the output follows the desired format (bullets, code, summary, json etc).</a:t>
            </a:r>
            <a:endParaRPr>
              <a:latin typeface="Arial"/>
              <a:ea typeface="Arial"/>
              <a:cs typeface="Arial"/>
              <a:sym typeface="Arial"/>
            </a:endParaRPr>
          </a:p>
          <a:p>
            <a:pPr indent="0" lvl="0" marL="457200" rtl="0" algn="l">
              <a:lnSpc>
                <a:spcPct val="90000"/>
              </a:lnSpc>
              <a:spcBef>
                <a:spcPts val="75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b7995af863_0_164"/>
          <p:cNvSpPr txBox="1"/>
          <p:nvPr>
            <p:ph type="title"/>
          </p:nvPr>
        </p:nvSpPr>
        <p:spPr>
          <a:xfrm>
            <a:off x="628650" y="2002649"/>
            <a:ext cx="7886700" cy="2852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Georgia"/>
              <a:buNone/>
            </a:pPr>
            <a:r>
              <a:rPr lang="en-US"/>
              <a:t>Prompt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
          <p:cNvSpPr txBox="1"/>
          <p:nvPr>
            <p:ph type="title"/>
          </p:nvPr>
        </p:nvSpPr>
        <p:spPr>
          <a:xfrm>
            <a:off x="628650" y="10901"/>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What is prompt?</a:t>
            </a:r>
            <a:endParaRPr/>
          </a:p>
        </p:txBody>
      </p:sp>
      <p:sp>
        <p:nvSpPr>
          <p:cNvPr id="176" name="Google Shape;176;p4"/>
          <p:cNvSpPr txBox="1"/>
          <p:nvPr>
            <p:ph idx="1" type="body"/>
          </p:nvPr>
        </p:nvSpPr>
        <p:spPr>
          <a:xfrm>
            <a:off x="628650" y="1379502"/>
            <a:ext cx="7886700" cy="4669439"/>
          </a:xfrm>
          <a:prstGeom prst="rect">
            <a:avLst/>
          </a:prstGeom>
          <a:noFill/>
          <a:ln>
            <a:noFill/>
          </a:ln>
        </p:spPr>
        <p:txBody>
          <a:bodyPr anchorCtr="0" anchor="t" bIns="45700" lIns="91425" spcFirstLastPara="1" rIns="91425" wrap="square" tIns="45700">
            <a:normAutofit lnSpcReduction="10000"/>
          </a:bodyPr>
          <a:lstStyle/>
          <a:p>
            <a:pPr indent="-361950" lvl="0" marL="457200" rtl="0" algn="l">
              <a:spcBef>
                <a:spcPts val="750"/>
              </a:spcBef>
              <a:spcAft>
                <a:spcPts val="0"/>
              </a:spcAft>
              <a:buSzPts val="2100"/>
              <a:buChar char="•"/>
            </a:pPr>
            <a:r>
              <a:rPr lang="en-US">
                <a:latin typeface="Arial"/>
                <a:ea typeface="Arial"/>
                <a:cs typeface="Arial"/>
                <a:sym typeface="Arial"/>
              </a:rPr>
              <a:t>A prompt is the input or instruction given to an AI or LLM.</a:t>
            </a:r>
            <a:br>
              <a:rPr lang="en-US">
                <a:latin typeface="Arial"/>
                <a:ea typeface="Arial"/>
                <a:cs typeface="Arial"/>
                <a:sym typeface="Arial"/>
              </a:rPr>
            </a:br>
            <a:endParaRPr>
              <a:latin typeface="Arial"/>
              <a:ea typeface="Arial"/>
              <a:cs typeface="Arial"/>
              <a:sym typeface="Arial"/>
            </a:endParaRPr>
          </a:p>
          <a:p>
            <a:pPr indent="-361950" lvl="0" marL="457200" rtl="0" algn="l">
              <a:spcBef>
                <a:spcPts val="750"/>
              </a:spcBef>
              <a:spcAft>
                <a:spcPts val="0"/>
              </a:spcAft>
              <a:buSzPts val="2100"/>
              <a:buChar char="•"/>
            </a:pPr>
            <a:r>
              <a:rPr lang="en-US">
                <a:latin typeface="Arial"/>
                <a:ea typeface="Arial"/>
                <a:cs typeface="Arial"/>
                <a:sym typeface="Arial"/>
              </a:rPr>
              <a:t>It tells the AI what task to perform.</a:t>
            </a:r>
            <a:br>
              <a:rPr lang="en-US">
                <a:latin typeface="Arial"/>
                <a:ea typeface="Arial"/>
                <a:cs typeface="Arial"/>
                <a:sym typeface="Arial"/>
              </a:rPr>
            </a:br>
            <a:endParaRPr>
              <a:latin typeface="Arial"/>
              <a:ea typeface="Arial"/>
              <a:cs typeface="Arial"/>
              <a:sym typeface="Arial"/>
            </a:endParaRPr>
          </a:p>
          <a:p>
            <a:pPr indent="-361950" lvl="0" marL="457200" rtl="0" algn="l">
              <a:spcBef>
                <a:spcPts val="750"/>
              </a:spcBef>
              <a:spcAft>
                <a:spcPts val="0"/>
              </a:spcAft>
              <a:buSzPts val="2100"/>
              <a:buChar char="•"/>
            </a:pPr>
            <a:r>
              <a:rPr lang="en-US">
                <a:latin typeface="Arial"/>
                <a:ea typeface="Arial"/>
                <a:cs typeface="Arial"/>
                <a:sym typeface="Arial"/>
              </a:rPr>
              <a:t>A prompt can be a question, command, or description.</a:t>
            </a:r>
            <a:br>
              <a:rPr lang="en-US">
                <a:latin typeface="Arial"/>
                <a:ea typeface="Arial"/>
                <a:cs typeface="Arial"/>
                <a:sym typeface="Arial"/>
              </a:rPr>
            </a:br>
            <a:endParaRPr>
              <a:latin typeface="Arial"/>
              <a:ea typeface="Arial"/>
              <a:cs typeface="Arial"/>
              <a:sym typeface="Arial"/>
            </a:endParaRPr>
          </a:p>
          <a:p>
            <a:pPr indent="-361950" lvl="0" marL="457200" rtl="0" algn="l">
              <a:spcBef>
                <a:spcPts val="750"/>
              </a:spcBef>
              <a:spcAft>
                <a:spcPts val="0"/>
              </a:spcAft>
              <a:buSzPts val="2100"/>
              <a:buChar char="•"/>
            </a:pPr>
            <a:r>
              <a:rPr lang="en-US">
                <a:latin typeface="Arial"/>
                <a:ea typeface="Arial"/>
                <a:cs typeface="Arial"/>
                <a:sym typeface="Arial"/>
              </a:rPr>
              <a:t>The quality of the prompt affects the quality of the output.</a:t>
            </a:r>
            <a:br>
              <a:rPr lang="en-US">
                <a:latin typeface="Arial"/>
                <a:ea typeface="Arial"/>
                <a:cs typeface="Arial"/>
                <a:sym typeface="Arial"/>
              </a:rPr>
            </a:br>
            <a:endParaRPr>
              <a:latin typeface="Arial"/>
              <a:ea typeface="Arial"/>
              <a:cs typeface="Arial"/>
              <a:sym typeface="Arial"/>
            </a:endParaRPr>
          </a:p>
          <a:p>
            <a:pPr indent="-361950" lvl="0" marL="457200" rtl="0" algn="l">
              <a:spcBef>
                <a:spcPts val="750"/>
              </a:spcBef>
              <a:spcAft>
                <a:spcPts val="0"/>
              </a:spcAft>
              <a:buSzPts val="2100"/>
              <a:buChar char="•"/>
            </a:pPr>
            <a:r>
              <a:rPr lang="en-US">
                <a:latin typeface="Arial"/>
                <a:ea typeface="Arial"/>
                <a:cs typeface="Arial"/>
                <a:sym typeface="Arial"/>
              </a:rPr>
              <a:t>Clear and specific prompts produce better and more accurate responses.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750"/>
              </a:spcBef>
              <a:spcAft>
                <a:spcPts val="0"/>
              </a:spcAft>
              <a:buSzPts val="2100"/>
              <a:buChar char="•"/>
            </a:pPr>
            <a:r>
              <a:rPr lang="en-US">
                <a:latin typeface="Arial"/>
                <a:ea typeface="Arial"/>
                <a:cs typeface="Arial"/>
                <a:sym typeface="Arial"/>
              </a:rPr>
              <a:t>A prompt acts as a guide for the AI’s response</a:t>
            </a:r>
            <a:endParaRPr>
              <a:latin typeface="Arial"/>
              <a:ea typeface="Arial"/>
              <a:cs typeface="Arial"/>
              <a:sym typeface="Arial"/>
            </a:endParaRPr>
          </a:p>
          <a:p>
            <a:pPr indent="0" lvl="0" marL="457200" rtl="0" algn="l">
              <a:lnSpc>
                <a:spcPct val="90000"/>
              </a:lnSpc>
              <a:spcBef>
                <a:spcPts val="750"/>
              </a:spcBef>
              <a:spcAft>
                <a:spcPts val="0"/>
              </a:spcAft>
              <a:buNone/>
            </a:pPr>
            <a:r>
              <a:t/>
            </a:r>
            <a:endParaRPr/>
          </a:p>
          <a:p>
            <a:pPr indent="0" lvl="0" marL="457200" rtl="0" algn="l">
              <a:lnSpc>
                <a:spcPct val="90000"/>
              </a:lnSpc>
              <a:spcBef>
                <a:spcPts val="750"/>
              </a:spcBef>
              <a:spcAft>
                <a:spcPts val="0"/>
              </a:spcAft>
              <a:buSzPts val="21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b7995af863_0_157"/>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BAD PROMPT Vs GOOD PROMPT</a:t>
            </a:r>
            <a:endParaRPr/>
          </a:p>
        </p:txBody>
      </p:sp>
      <p:pic>
        <p:nvPicPr>
          <p:cNvPr id="182" name="Google Shape;182;g3b7995af863_0_157"/>
          <p:cNvPicPr preferRelativeResize="0"/>
          <p:nvPr/>
        </p:nvPicPr>
        <p:blipFill>
          <a:blip r:embed="rId3">
            <a:alphaModFix/>
          </a:blip>
          <a:stretch>
            <a:fillRect/>
          </a:stretch>
        </p:blipFill>
        <p:spPr>
          <a:xfrm>
            <a:off x="686400" y="1432975"/>
            <a:ext cx="7828951" cy="4387625"/>
          </a:xfrm>
          <a:prstGeom prst="rect">
            <a:avLst/>
          </a:prstGeom>
          <a:noFill/>
          <a:ln>
            <a:noFill/>
          </a:ln>
        </p:spPr>
      </p:pic>
      <p:sp>
        <p:nvSpPr>
          <p:cNvPr id="183" name="Google Shape;183;g3b7995af863_0_157"/>
          <p:cNvSpPr txBox="1"/>
          <p:nvPr/>
        </p:nvSpPr>
        <p:spPr>
          <a:xfrm>
            <a:off x="686400" y="5820600"/>
            <a:ext cx="7620000" cy="2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u="sng">
                <a:solidFill>
                  <a:schemeClr val="hlink"/>
                </a:solidFill>
                <a:latin typeface="Georgia"/>
                <a:ea typeface="Georgia"/>
                <a:cs typeface="Georgia"/>
                <a:sym typeface="Georgia"/>
                <a:hlinkClick r:id="rId4"/>
              </a:rPr>
              <a:t>source: https://good-prompt-vs-bad-prompt-why-it-matters</a:t>
            </a:r>
            <a:endParaRPr sz="2100">
              <a:solidFill>
                <a:schemeClr val="dk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b7995af863_0_64"/>
          <p:cNvSpPr txBox="1"/>
          <p:nvPr>
            <p:ph type="title"/>
          </p:nvPr>
        </p:nvSpPr>
        <p:spPr>
          <a:xfrm>
            <a:off x="628650" y="2002649"/>
            <a:ext cx="7886700" cy="2852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Georgia"/>
              <a:buNone/>
            </a:pPr>
            <a:r>
              <a:rPr lang="en-US"/>
              <a:t>Prompting Techniques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b7995af863_0_199"/>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Zero-Shot Prompting</a:t>
            </a:r>
            <a:endParaRPr/>
          </a:p>
        </p:txBody>
      </p:sp>
      <p:sp>
        <p:nvSpPr>
          <p:cNvPr id="195" name="Google Shape;195;g3b7995af863_0_199"/>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a:bodyPr>
          <a:lstStyle/>
          <a:p>
            <a:pPr indent="-361950" lvl="0" marL="457200" rtl="0" algn="l">
              <a:spcBef>
                <a:spcPts val="750"/>
              </a:spcBef>
              <a:spcAft>
                <a:spcPts val="0"/>
              </a:spcAft>
              <a:buSzPts val="2100"/>
              <a:buFont typeface="Arial"/>
              <a:buChar char="•"/>
            </a:pPr>
            <a:r>
              <a:rPr lang="en-US">
                <a:latin typeface="Arial"/>
                <a:ea typeface="Arial"/>
                <a:cs typeface="Arial"/>
                <a:sym typeface="Arial"/>
              </a:rPr>
              <a:t>The AI is given only a task, with no examples.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The model relies on its pre-trained knowledge.</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Char char="•"/>
            </a:pPr>
            <a:r>
              <a:rPr lang="en-US">
                <a:latin typeface="Arial"/>
                <a:ea typeface="Arial"/>
                <a:cs typeface="Arial"/>
                <a:sym typeface="Arial"/>
              </a:rPr>
              <a:t>Fast and simple to use.</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Works well for common or straightforward tasks.</a:t>
            </a:r>
            <a:endParaRPr>
              <a:latin typeface="Arial"/>
              <a:ea typeface="Arial"/>
              <a:cs typeface="Arial"/>
              <a:sym typeface="Arial"/>
            </a:endParaRPr>
          </a:p>
          <a:p>
            <a:pPr indent="0" lvl="0" marL="457200" rtl="0" algn="l">
              <a:lnSpc>
                <a:spcPct val="90000"/>
              </a:lnSpc>
              <a:spcBef>
                <a:spcPts val="750"/>
              </a:spcBef>
              <a:spcAft>
                <a:spcPts val="0"/>
              </a:spcAft>
              <a:buSzPts val="21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b7995af863_0_191"/>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Zero-Shot Prompting Example</a:t>
            </a:r>
            <a:endParaRPr/>
          </a:p>
        </p:txBody>
      </p:sp>
      <p:pic>
        <p:nvPicPr>
          <p:cNvPr id="201" name="Google Shape;201;g3b7995af863_0_191"/>
          <p:cNvPicPr preferRelativeResize="0"/>
          <p:nvPr/>
        </p:nvPicPr>
        <p:blipFill>
          <a:blip r:embed="rId3">
            <a:alphaModFix/>
          </a:blip>
          <a:stretch>
            <a:fillRect/>
          </a:stretch>
        </p:blipFill>
        <p:spPr>
          <a:xfrm>
            <a:off x="725225" y="1435775"/>
            <a:ext cx="7886701" cy="3756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b7995af863_0_183"/>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Few-Shot Prompting</a:t>
            </a:r>
            <a:endParaRPr/>
          </a:p>
        </p:txBody>
      </p:sp>
      <p:sp>
        <p:nvSpPr>
          <p:cNvPr id="207" name="Google Shape;207;g3b7995af863_0_183"/>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a:bodyPr>
          <a:lstStyle/>
          <a:p>
            <a:pPr indent="-361950" lvl="0" marL="457200" rtl="0" algn="l">
              <a:spcBef>
                <a:spcPts val="750"/>
              </a:spcBef>
              <a:spcAft>
                <a:spcPts val="0"/>
              </a:spcAft>
              <a:buSzPts val="2100"/>
              <a:buChar char="•"/>
            </a:pPr>
            <a:r>
              <a:rPr lang="en-US">
                <a:latin typeface="Arial"/>
                <a:ea typeface="Arial"/>
                <a:cs typeface="Arial"/>
                <a:sym typeface="Arial"/>
              </a:rPr>
              <a:t>The AI is given a few examples along with the task.</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Char char="•"/>
            </a:pPr>
            <a:r>
              <a:rPr lang="en-US">
                <a:latin typeface="Arial"/>
                <a:ea typeface="Arial"/>
                <a:cs typeface="Arial"/>
                <a:sym typeface="Arial"/>
              </a:rPr>
              <a:t>Examples show the expected style, format, or logic.</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Char char="•"/>
            </a:pPr>
            <a:r>
              <a:rPr lang="en-US">
                <a:latin typeface="Arial"/>
                <a:ea typeface="Arial"/>
                <a:cs typeface="Arial"/>
                <a:sym typeface="Arial"/>
              </a:rPr>
              <a:t>Produces more accurate and consistent results.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Char char="•"/>
            </a:pPr>
            <a:r>
              <a:rPr lang="en-US">
                <a:latin typeface="Arial"/>
                <a:ea typeface="Arial"/>
                <a:cs typeface="Arial"/>
                <a:sym typeface="Arial"/>
              </a:rPr>
              <a:t>Useful for complex or structured tasks.</a:t>
            </a:r>
            <a:endParaRPr>
              <a:latin typeface="Arial"/>
              <a:ea typeface="Arial"/>
              <a:cs typeface="Arial"/>
              <a:sym typeface="Arial"/>
            </a:endParaRPr>
          </a:p>
          <a:p>
            <a:pPr indent="0" lvl="0" marL="457200" rtl="0" algn="l">
              <a:spcBef>
                <a:spcPts val="750"/>
              </a:spcBef>
              <a:spcAft>
                <a:spcPts val="0"/>
              </a:spcAft>
              <a:buNone/>
            </a:pPr>
            <a:r>
              <a:t/>
            </a:r>
            <a:endParaRPr>
              <a:latin typeface="Arial"/>
              <a:ea typeface="Arial"/>
              <a:cs typeface="Arial"/>
              <a:sym typeface="Arial"/>
            </a:endParaRPr>
          </a:p>
          <a:p>
            <a:pPr indent="0" lvl="0" marL="0" rtl="0" algn="l">
              <a:lnSpc>
                <a:spcPct val="90000"/>
              </a:lnSpc>
              <a:spcBef>
                <a:spcPts val="750"/>
              </a:spcBef>
              <a:spcAft>
                <a:spcPts val="0"/>
              </a:spcAft>
              <a:buSzPts val="21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b7995af863_0_205"/>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Few-Shot Prompting Example</a:t>
            </a:r>
            <a:endParaRPr/>
          </a:p>
        </p:txBody>
      </p:sp>
      <p:pic>
        <p:nvPicPr>
          <p:cNvPr id="213" name="Google Shape;213;g3b7995af863_0_205"/>
          <p:cNvPicPr preferRelativeResize="0"/>
          <p:nvPr/>
        </p:nvPicPr>
        <p:blipFill>
          <a:blip r:embed="rId3">
            <a:alphaModFix/>
          </a:blip>
          <a:stretch>
            <a:fillRect/>
          </a:stretch>
        </p:blipFill>
        <p:spPr>
          <a:xfrm>
            <a:off x="628650" y="1489000"/>
            <a:ext cx="7886701" cy="3382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b7995af863_0_211"/>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Chain of Thought(CoT) Prompting</a:t>
            </a:r>
            <a:endParaRPr/>
          </a:p>
        </p:txBody>
      </p:sp>
      <p:sp>
        <p:nvSpPr>
          <p:cNvPr id="219" name="Google Shape;219;g3b7995af863_0_211"/>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a:bodyPr>
          <a:lstStyle/>
          <a:p>
            <a:pPr indent="-361950" lvl="0" marL="457200" rtl="0" algn="l">
              <a:spcBef>
                <a:spcPts val="750"/>
              </a:spcBef>
              <a:spcAft>
                <a:spcPts val="0"/>
              </a:spcAft>
              <a:buSzPts val="2100"/>
              <a:buFont typeface="Arial"/>
              <a:buChar char="•"/>
            </a:pPr>
            <a:r>
              <a:rPr lang="en-US">
                <a:latin typeface="Arial"/>
                <a:ea typeface="Arial"/>
                <a:cs typeface="Arial"/>
                <a:sym typeface="Arial"/>
              </a:rPr>
              <a:t>It encourages the AI to think step by step before giving the final answer.</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improves performance on reasoning and problem-solving tasks.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helps the AI handle complex or multi-step questions.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makes the reasoning process more transparent and understandable.</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reduces errors by guiding the model through logical steps.</a:t>
            </a:r>
            <a:endParaRPr>
              <a:latin typeface="Arial"/>
              <a:ea typeface="Arial"/>
              <a:cs typeface="Arial"/>
              <a:sym typeface="Arial"/>
            </a:endParaRPr>
          </a:p>
          <a:p>
            <a:pPr indent="0" lvl="0" marL="457200" rtl="0" algn="l">
              <a:lnSpc>
                <a:spcPct val="90000"/>
              </a:lnSpc>
              <a:spcBef>
                <a:spcPts val="750"/>
              </a:spcBef>
              <a:spcAft>
                <a:spcPts val="0"/>
              </a:spcAft>
              <a:buNone/>
            </a:pPr>
            <a:r>
              <a:t/>
            </a:r>
            <a:endParaRPr>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b7995af863_0_217"/>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Chain of Thought(CoT) Prompting</a:t>
            </a:r>
            <a:endParaRPr/>
          </a:p>
        </p:txBody>
      </p:sp>
      <p:pic>
        <p:nvPicPr>
          <p:cNvPr id="225" name="Google Shape;225;g3b7995af863_0_217"/>
          <p:cNvPicPr preferRelativeResize="0"/>
          <p:nvPr/>
        </p:nvPicPr>
        <p:blipFill>
          <a:blip r:embed="rId3">
            <a:alphaModFix/>
          </a:blip>
          <a:stretch>
            <a:fillRect/>
          </a:stretch>
        </p:blipFill>
        <p:spPr>
          <a:xfrm>
            <a:off x="553450" y="1515725"/>
            <a:ext cx="8098600" cy="4019550"/>
          </a:xfrm>
          <a:prstGeom prst="rect">
            <a:avLst/>
          </a:prstGeom>
          <a:noFill/>
          <a:ln>
            <a:noFill/>
          </a:ln>
        </p:spPr>
      </p:pic>
      <p:sp>
        <p:nvSpPr>
          <p:cNvPr id="226" name="Google Shape;226;g3b7995af863_0_217"/>
          <p:cNvSpPr txBox="1"/>
          <p:nvPr/>
        </p:nvSpPr>
        <p:spPr>
          <a:xfrm>
            <a:off x="764675" y="5593350"/>
            <a:ext cx="6149400" cy="3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u="sng">
                <a:solidFill>
                  <a:schemeClr val="hlink"/>
                </a:solidFill>
                <a:latin typeface="Georgia"/>
                <a:ea typeface="Georgia"/>
                <a:cs typeface="Georgia"/>
                <a:sym typeface="Georgia"/>
                <a:hlinkClick r:id="rId4"/>
              </a:rPr>
              <a:t>source: https://arxiv.org/abs/2201.11903</a:t>
            </a:r>
            <a:endParaRPr sz="1600">
              <a:solidFill>
                <a:schemeClr val="dk1"/>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b7995af863_0_223"/>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Chain of Thought(CoT) Prompting Example</a:t>
            </a:r>
            <a:endParaRPr/>
          </a:p>
        </p:txBody>
      </p:sp>
      <p:pic>
        <p:nvPicPr>
          <p:cNvPr id="232" name="Google Shape;232;g3b7995af863_0_223"/>
          <p:cNvPicPr preferRelativeResize="0"/>
          <p:nvPr/>
        </p:nvPicPr>
        <p:blipFill>
          <a:blip r:embed="rId3">
            <a:alphaModFix/>
          </a:blip>
          <a:stretch>
            <a:fillRect/>
          </a:stretch>
        </p:blipFill>
        <p:spPr>
          <a:xfrm>
            <a:off x="659550" y="1502600"/>
            <a:ext cx="7732650" cy="44917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b717a8d30f_0_6"/>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Chain of Thought(CoT) Prompting Example- code</a:t>
            </a:r>
            <a:endParaRPr/>
          </a:p>
        </p:txBody>
      </p:sp>
      <p:pic>
        <p:nvPicPr>
          <p:cNvPr id="238" name="Google Shape;238;g3b717a8d30f_0_6"/>
          <p:cNvPicPr preferRelativeResize="0"/>
          <p:nvPr/>
        </p:nvPicPr>
        <p:blipFill>
          <a:blip r:embed="rId3">
            <a:alphaModFix/>
          </a:blip>
          <a:stretch>
            <a:fillRect/>
          </a:stretch>
        </p:blipFill>
        <p:spPr>
          <a:xfrm>
            <a:off x="871650" y="1475650"/>
            <a:ext cx="7085275" cy="4478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b717a8d30f_0_19"/>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Chain of Thought(CoT) Prompting Example- output</a:t>
            </a:r>
            <a:endParaRPr/>
          </a:p>
        </p:txBody>
      </p:sp>
      <p:pic>
        <p:nvPicPr>
          <p:cNvPr id="244" name="Google Shape;244;g3b717a8d30f_0_19"/>
          <p:cNvPicPr preferRelativeResize="0"/>
          <p:nvPr/>
        </p:nvPicPr>
        <p:blipFill>
          <a:blip r:embed="rId3">
            <a:alphaModFix/>
          </a:blip>
          <a:stretch>
            <a:fillRect/>
          </a:stretch>
        </p:blipFill>
        <p:spPr>
          <a:xfrm>
            <a:off x="991925" y="1489000"/>
            <a:ext cx="7386999" cy="4684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b7995af863_0_234"/>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Self Consistency</a:t>
            </a:r>
            <a:endParaRPr/>
          </a:p>
        </p:txBody>
      </p:sp>
      <p:sp>
        <p:nvSpPr>
          <p:cNvPr id="250" name="Google Shape;250;g3b7995af863_0_234"/>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lnSpcReduction="20000"/>
          </a:bodyPr>
          <a:lstStyle/>
          <a:p>
            <a:pPr indent="-361950" lvl="0" marL="457200" rtl="0" algn="l">
              <a:spcBef>
                <a:spcPts val="750"/>
              </a:spcBef>
              <a:spcAft>
                <a:spcPts val="0"/>
              </a:spcAft>
              <a:buSzPts val="2100"/>
              <a:buFont typeface="Arial"/>
              <a:buChar char="•"/>
            </a:pPr>
            <a:r>
              <a:rPr lang="en-US">
                <a:latin typeface="Arial"/>
                <a:ea typeface="Arial"/>
                <a:cs typeface="Arial"/>
                <a:sym typeface="Arial"/>
              </a:rPr>
              <a:t>The model generates several different reasoning paths for the same question rather than just one.</a:t>
            </a:r>
            <a:endParaRPr>
              <a:latin typeface="Arial"/>
              <a:ea typeface="Arial"/>
              <a:cs typeface="Arial"/>
              <a:sym typeface="Arial"/>
            </a:endParaRPr>
          </a:p>
          <a:p>
            <a:pPr indent="0" lvl="0" marL="0" rtl="0" algn="l">
              <a:spcBef>
                <a:spcPts val="750"/>
              </a:spcBef>
              <a:spcAft>
                <a:spcPts val="0"/>
              </a:spcAft>
              <a:buNone/>
            </a:pPr>
            <a:r>
              <a:t/>
            </a:r>
            <a:endParaRPr>
              <a:latin typeface="Arial"/>
              <a:ea typeface="Arial"/>
              <a:cs typeface="Arial"/>
              <a:sym typeface="Arial"/>
            </a:endParaRPr>
          </a:p>
          <a:p>
            <a:pPr indent="-361950" lvl="0" marL="457200" rtl="0" algn="l">
              <a:spcBef>
                <a:spcPts val="750"/>
              </a:spcBef>
              <a:spcAft>
                <a:spcPts val="0"/>
              </a:spcAft>
              <a:buSzPts val="2100"/>
              <a:buFont typeface="Arial"/>
              <a:buChar char="•"/>
            </a:pPr>
            <a:r>
              <a:rPr lang="en-US">
                <a:latin typeface="Arial"/>
                <a:ea typeface="Arial"/>
                <a:cs typeface="Arial"/>
                <a:sym typeface="Arial"/>
              </a:rPr>
              <a:t>It encourages the AI to approach the problem from different angles by slightly varying its logic each time.</a:t>
            </a:r>
            <a:endParaRPr>
              <a:latin typeface="Arial"/>
              <a:ea typeface="Arial"/>
              <a:cs typeface="Arial"/>
              <a:sym typeface="Arial"/>
            </a:endParaRPr>
          </a:p>
          <a:p>
            <a:pPr indent="0" lvl="0" marL="914400" rtl="0" algn="l">
              <a:spcBef>
                <a:spcPts val="750"/>
              </a:spcBef>
              <a:spcAft>
                <a:spcPts val="0"/>
              </a:spcAft>
              <a:buNone/>
            </a:pPr>
            <a:r>
              <a:t/>
            </a:r>
            <a:endParaRPr>
              <a:latin typeface="Arial"/>
              <a:ea typeface="Arial"/>
              <a:cs typeface="Arial"/>
              <a:sym typeface="Arial"/>
            </a:endParaRPr>
          </a:p>
          <a:p>
            <a:pPr indent="-361950" lvl="0" marL="457200" rtl="0" algn="l">
              <a:spcBef>
                <a:spcPts val="750"/>
              </a:spcBef>
              <a:spcAft>
                <a:spcPts val="0"/>
              </a:spcAft>
              <a:buSzPts val="2100"/>
              <a:buFont typeface="Arial"/>
              <a:buChar char="•"/>
            </a:pPr>
            <a:r>
              <a:rPr lang="en-US">
                <a:latin typeface="Arial"/>
                <a:ea typeface="Arial"/>
                <a:cs typeface="Arial"/>
                <a:sym typeface="Arial"/>
              </a:rPr>
              <a:t>The final answer is chosen based on which result appears most frequently across all the attempts.</a:t>
            </a:r>
            <a:endParaRPr>
              <a:latin typeface="Arial"/>
              <a:ea typeface="Arial"/>
              <a:cs typeface="Arial"/>
              <a:sym typeface="Arial"/>
            </a:endParaRPr>
          </a:p>
          <a:p>
            <a:pPr indent="0" lvl="0" marL="914400" rtl="0" algn="l">
              <a:spcBef>
                <a:spcPts val="750"/>
              </a:spcBef>
              <a:spcAft>
                <a:spcPts val="0"/>
              </a:spcAft>
              <a:buNone/>
            </a:pPr>
            <a:r>
              <a:t/>
            </a:r>
            <a:endParaRPr>
              <a:latin typeface="Arial"/>
              <a:ea typeface="Arial"/>
              <a:cs typeface="Arial"/>
              <a:sym typeface="Arial"/>
            </a:endParaRPr>
          </a:p>
          <a:p>
            <a:pPr indent="-361950" lvl="0" marL="457200" rtl="0" algn="l">
              <a:spcBef>
                <a:spcPts val="750"/>
              </a:spcBef>
              <a:spcAft>
                <a:spcPts val="0"/>
              </a:spcAft>
              <a:buSzPts val="2100"/>
              <a:buFont typeface="Arial"/>
              <a:buChar char="•"/>
            </a:pPr>
            <a:r>
              <a:rPr lang="en-US">
                <a:latin typeface="Arial"/>
                <a:ea typeface="Arial"/>
                <a:cs typeface="Arial"/>
                <a:sym typeface="Arial"/>
              </a:rPr>
              <a:t>It filters out "hallucinations" or random logic slips, as incorrect paths rarely lead to the same wrong answer.</a:t>
            </a:r>
            <a:endParaRPr>
              <a:latin typeface="Arial"/>
              <a:ea typeface="Arial"/>
              <a:cs typeface="Arial"/>
              <a:sym typeface="Arial"/>
            </a:endParaRPr>
          </a:p>
          <a:p>
            <a:pPr indent="0" lvl="0" marL="914400" rtl="0" algn="l">
              <a:spcBef>
                <a:spcPts val="750"/>
              </a:spcBef>
              <a:spcAft>
                <a:spcPts val="0"/>
              </a:spcAft>
              <a:buNone/>
            </a:pPr>
            <a:r>
              <a:t/>
            </a:r>
            <a:endParaRPr>
              <a:latin typeface="Arial"/>
              <a:ea typeface="Arial"/>
              <a:cs typeface="Arial"/>
              <a:sym typeface="Arial"/>
            </a:endParaRPr>
          </a:p>
          <a:p>
            <a:pPr indent="-361950" lvl="0" marL="457200" rtl="0" algn="l">
              <a:spcBef>
                <a:spcPts val="750"/>
              </a:spcBef>
              <a:spcAft>
                <a:spcPts val="0"/>
              </a:spcAft>
              <a:buSzPts val="2100"/>
              <a:buFont typeface="Arial"/>
              <a:buChar char="•"/>
            </a:pPr>
            <a:r>
              <a:rPr lang="en-US">
                <a:latin typeface="Arial"/>
                <a:ea typeface="Arial"/>
                <a:cs typeface="Arial"/>
                <a:sym typeface="Arial"/>
              </a:rPr>
              <a:t>It is most effective for math, coding, and common-sense reasoning where a definitive correct answer exists</a:t>
            </a:r>
            <a:endParaRPr>
              <a:latin typeface="Arial"/>
              <a:ea typeface="Arial"/>
              <a:cs typeface="Arial"/>
              <a:sym typeface="Arial"/>
            </a:endParaRPr>
          </a:p>
          <a:p>
            <a:pPr indent="0" lvl="0" marL="914400" rtl="0" algn="l">
              <a:lnSpc>
                <a:spcPct val="90000"/>
              </a:lnSpc>
              <a:spcBef>
                <a:spcPts val="750"/>
              </a:spcBef>
              <a:spcAft>
                <a:spcPts val="0"/>
              </a:spcAft>
              <a:buNone/>
            </a:pPr>
            <a:r>
              <a:t/>
            </a:r>
            <a:endParaRPr>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b7995af863_0_229"/>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Self Consistency</a:t>
            </a:r>
            <a:endParaRPr/>
          </a:p>
        </p:txBody>
      </p:sp>
      <p:pic>
        <p:nvPicPr>
          <p:cNvPr id="256" name="Google Shape;256;g3b7995af863_0_229"/>
          <p:cNvPicPr preferRelativeResize="0"/>
          <p:nvPr/>
        </p:nvPicPr>
        <p:blipFill>
          <a:blip r:embed="rId3">
            <a:alphaModFix/>
          </a:blip>
          <a:stretch>
            <a:fillRect/>
          </a:stretch>
        </p:blipFill>
        <p:spPr>
          <a:xfrm>
            <a:off x="562938" y="1502350"/>
            <a:ext cx="8018124" cy="4117725"/>
          </a:xfrm>
          <a:prstGeom prst="rect">
            <a:avLst/>
          </a:prstGeom>
          <a:noFill/>
          <a:ln>
            <a:noFill/>
          </a:ln>
        </p:spPr>
      </p:pic>
      <p:sp>
        <p:nvSpPr>
          <p:cNvPr id="257" name="Google Shape;257;g3b7995af863_0_229"/>
          <p:cNvSpPr txBox="1"/>
          <p:nvPr/>
        </p:nvSpPr>
        <p:spPr>
          <a:xfrm>
            <a:off x="858250" y="5620075"/>
            <a:ext cx="5989200" cy="3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u="sng">
                <a:solidFill>
                  <a:schemeClr val="hlink"/>
                </a:solidFill>
                <a:latin typeface="Georgia"/>
                <a:ea typeface="Georgia"/>
                <a:cs typeface="Georgia"/>
                <a:sym typeface="Georgia"/>
                <a:hlinkClick r:id="rId4"/>
              </a:rPr>
              <a:t>source: https://arxiv.org/abs/2203.11171</a:t>
            </a:r>
            <a:endParaRPr sz="1600">
              <a:solidFill>
                <a:schemeClr val="dk1"/>
              </a:solidFill>
              <a:latin typeface="Georgia"/>
              <a:ea typeface="Georgia"/>
              <a:cs typeface="Georgia"/>
              <a:sym typeface="Georg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b7995af863_0_253"/>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Self Consistency</a:t>
            </a:r>
            <a:endParaRPr/>
          </a:p>
        </p:txBody>
      </p:sp>
      <p:pic>
        <p:nvPicPr>
          <p:cNvPr id="263" name="Google Shape;263;g3b7995af863_0_253"/>
          <p:cNvPicPr preferRelativeResize="0"/>
          <p:nvPr/>
        </p:nvPicPr>
        <p:blipFill>
          <a:blip r:embed="rId3">
            <a:alphaModFix/>
          </a:blip>
          <a:stretch>
            <a:fillRect/>
          </a:stretch>
        </p:blipFill>
        <p:spPr>
          <a:xfrm>
            <a:off x="818150" y="1489000"/>
            <a:ext cx="7954199" cy="4318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b717a8d30f_0_0"/>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Self Consistency Prompting Example- code</a:t>
            </a:r>
            <a:endParaRPr/>
          </a:p>
        </p:txBody>
      </p:sp>
      <p:pic>
        <p:nvPicPr>
          <p:cNvPr id="269" name="Google Shape;269;g3b717a8d30f_0_0"/>
          <p:cNvPicPr preferRelativeResize="0"/>
          <p:nvPr/>
        </p:nvPicPr>
        <p:blipFill>
          <a:blip r:embed="rId3">
            <a:alphaModFix/>
          </a:blip>
          <a:stretch>
            <a:fillRect/>
          </a:stretch>
        </p:blipFill>
        <p:spPr>
          <a:xfrm>
            <a:off x="628650" y="1489000"/>
            <a:ext cx="8086501" cy="492645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b717a8d30f_0_11"/>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Self Consistency Prompting Example- output</a:t>
            </a:r>
            <a:endParaRPr/>
          </a:p>
        </p:txBody>
      </p:sp>
      <p:pic>
        <p:nvPicPr>
          <p:cNvPr id="275" name="Google Shape;275;g3b717a8d30f_0_11"/>
          <p:cNvPicPr preferRelativeResize="0"/>
          <p:nvPr/>
        </p:nvPicPr>
        <p:blipFill>
          <a:blip r:embed="rId3">
            <a:alphaModFix/>
          </a:blip>
          <a:stretch>
            <a:fillRect/>
          </a:stretch>
        </p:blipFill>
        <p:spPr>
          <a:xfrm>
            <a:off x="430638" y="1477212"/>
            <a:ext cx="8282723" cy="3903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b7995af863_0_263"/>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ReAct Prompting</a:t>
            </a:r>
            <a:endParaRPr/>
          </a:p>
        </p:txBody>
      </p:sp>
      <p:sp>
        <p:nvSpPr>
          <p:cNvPr id="281" name="Google Shape;281;g3b7995af863_0_263"/>
          <p:cNvSpPr txBox="1"/>
          <p:nvPr>
            <p:ph idx="1" type="body"/>
          </p:nvPr>
        </p:nvSpPr>
        <p:spPr>
          <a:xfrm>
            <a:off x="628650" y="1379502"/>
            <a:ext cx="7886700" cy="4669500"/>
          </a:xfrm>
          <a:prstGeom prst="rect">
            <a:avLst/>
          </a:prstGeom>
          <a:noFill/>
          <a:ln>
            <a:noFill/>
          </a:ln>
        </p:spPr>
        <p:txBody>
          <a:bodyPr anchorCtr="0" anchor="t" bIns="45700" lIns="91425" spcFirstLastPara="1" rIns="91425" wrap="square" tIns="45700">
            <a:normAutofit/>
          </a:bodyPr>
          <a:lstStyle/>
          <a:p>
            <a:pPr indent="-361950" lvl="0" marL="457200" rtl="0" algn="l">
              <a:spcBef>
                <a:spcPts val="750"/>
              </a:spcBef>
              <a:spcAft>
                <a:spcPts val="0"/>
              </a:spcAft>
              <a:buSzPts val="2100"/>
              <a:buFont typeface="Arial"/>
              <a:buChar char="•"/>
            </a:pPr>
            <a:r>
              <a:rPr lang="en-US">
                <a:latin typeface="Arial"/>
                <a:ea typeface="Arial"/>
                <a:cs typeface="Arial"/>
                <a:sym typeface="Arial"/>
              </a:rPr>
              <a:t>ReAct stands for Reasoning and Acting, where the model alternates between thinking and taking actions.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allows the model to reason step by step and then interact with tools or environments.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ReAct improves performance on multi-step and decision-making tasks.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It helps the model correct itself by using observations from actions.</a:t>
            </a:r>
            <a:br>
              <a:rPr lang="en-US">
                <a:latin typeface="Arial"/>
                <a:ea typeface="Arial"/>
                <a:cs typeface="Arial"/>
                <a:sym typeface="Arial"/>
              </a:rPr>
            </a:b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US">
                <a:latin typeface="Arial"/>
                <a:ea typeface="Arial"/>
                <a:cs typeface="Arial"/>
                <a:sym typeface="Arial"/>
              </a:rPr>
              <a:t>ReAct prompting is useful in tasks like question answering, planning, and tool-based problem solving.</a:t>
            </a:r>
            <a:endParaRPr>
              <a:latin typeface="Arial"/>
              <a:ea typeface="Arial"/>
              <a:cs typeface="Arial"/>
              <a:sym typeface="Arial"/>
            </a:endParaRPr>
          </a:p>
          <a:p>
            <a:pPr indent="0" lvl="0" marL="457200" rtl="0" algn="l">
              <a:lnSpc>
                <a:spcPct val="90000"/>
              </a:lnSpc>
              <a:spcBef>
                <a:spcPts val="750"/>
              </a:spcBef>
              <a:spcAft>
                <a:spcPts val="0"/>
              </a:spcAft>
              <a:buNone/>
            </a:pPr>
            <a:r>
              <a:t/>
            </a:r>
            <a:endParaRPr>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b7995af863_0_258"/>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ReAct Prompting</a:t>
            </a:r>
            <a:endParaRPr/>
          </a:p>
        </p:txBody>
      </p:sp>
      <p:pic>
        <p:nvPicPr>
          <p:cNvPr id="287" name="Google Shape;287;g3b7995af863_0_258"/>
          <p:cNvPicPr preferRelativeResize="0"/>
          <p:nvPr/>
        </p:nvPicPr>
        <p:blipFill>
          <a:blip r:embed="rId3">
            <a:alphaModFix/>
          </a:blip>
          <a:stretch>
            <a:fillRect/>
          </a:stretch>
        </p:blipFill>
        <p:spPr>
          <a:xfrm>
            <a:off x="1022650" y="1336600"/>
            <a:ext cx="6684199" cy="4924275"/>
          </a:xfrm>
          <a:prstGeom prst="rect">
            <a:avLst/>
          </a:prstGeom>
          <a:noFill/>
          <a:ln>
            <a:noFill/>
          </a:ln>
        </p:spPr>
      </p:pic>
      <p:sp>
        <p:nvSpPr>
          <p:cNvPr id="288" name="Google Shape;288;g3b7995af863_0_258"/>
          <p:cNvSpPr txBox="1"/>
          <p:nvPr/>
        </p:nvSpPr>
        <p:spPr>
          <a:xfrm>
            <a:off x="1356950" y="6113875"/>
            <a:ext cx="6269700" cy="1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u="sng">
                <a:solidFill>
                  <a:schemeClr val="hlink"/>
                </a:solidFill>
                <a:latin typeface="Georgia"/>
                <a:ea typeface="Georgia"/>
                <a:cs typeface="Georgia"/>
                <a:sym typeface="Georgia"/>
                <a:hlinkClick r:id="rId4"/>
              </a:rPr>
              <a:t>source: https://arxiv.org/abs/2210.03629</a:t>
            </a:r>
            <a:endParaRPr sz="1600">
              <a:solidFill>
                <a:schemeClr val="dk1"/>
              </a:solidFill>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b717a8d30f_0_25"/>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ReAct Prompting Example - Code</a:t>
            </a:r>
            <a:endParaRPr/>
          </a:p>
        </p:txBody>
      </p:sp>
      <p:pic>
        <p:nvPicPr>
          <p:cNvPr id="294" name="Google Shape;294;g3b717a8d30f_0_25"/>
          <p:cNvPicPr preferRelativeResize="0"/>
          <p:nvPr/>
        </p:nvPicPr>
        <p:blipFill>
          <a:blip r:embed="rId3">
            <a:alphaModFix/>
          </a:blip>
          <a:stretch>
            <a:fillRect/>
          </a:stretch>
        </p:blipFill>
        <p:spPr>
          <a:xfrm>
            <a:off x="994625" y="1489000"/>
            <a:ext cx="6614675" cy="47742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b717a8d30f_0_32"/>
          <p:cNvSpPr txBox="1"/>
          <p:nvPr>
            <p:ph type="title"/>
          </p:nvPr>
        </p:nvSpPr>
        <p:spPr>
          <a:xfrm>
            <a:off x="628650" y="10901"/>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Georgia"/>
              <a:buNone/>
            </a:pPr>
            <a:r>
              <a:rPr lang="en-US"/>
              <a:t>ReAct Prompting Example - Code</a:t>
            </a:r>
            <a:endParaRPr/>
          </a:p>
        </p:txBody>
      </p:sp>
      <p:pic>
        <p:nvPicPr>
          <p:cNvPr id="300" name="Google Shape;300;g3b717a8d30f_0_32"/>
          <p:cNvPicPr preferRelativeResize="0"/>
          <p:nvPr/>
        </p:nvPicPr>
        <p:blipFill>
          <a:blip r:embed="rId3">
            <a:alphaModFix/>
          </a:blip>
          <a:stretch>
            <a:fillRect/>
          </a:stretch>
        </p:blipFill>
        <p:spPr>
          <a:xfrm>
            <a:off x="807450" y="1432950"/>
            <a:ext cx="6574599" cy="4742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cture_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2019-05-02T02:34:25Z</dcterms:created>
  <dc:creator>Karen A Prescott</dc:creator>
</cp:coreProperties>
</file>